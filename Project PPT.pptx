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46"/>
  </p:notesMasterIdLst>
  <p:handoutMasterIdLst>
    <p:handoutMasterId r:id="rId47"/>
  </p:handoutMasterIdLst>
  <p:sldIdLst>
    <p:sldId id="256" r:id="rId2"/>
    <p:sldId id="257" r:id="rId3"/>
    <p:sldId id="258" r:id="rId4"/>
    <p:sldId id="259" r:id="rId5"/>
    <p:sldId id="312" r:id="rId6"/>
    <p:sldId id="261" r:id="rId7"/>
    <p:sldId id="290" r:id="rId8"/>
    <p:sldId id="283" r:id="rId9"/>
    <p:sldId id="282" r:id="rId10"/>
    <p:sldId id="295" r:id="rId11"/>
    <p:sldId id="296" r:id="rId12"/>
    <p:sldId id="266" r:id="rId13"/>
    <p:sldId id="268" r:id="rId14"/>
    <p:sldId id="292" r:id="rId15"/>
    <p:sldId id="291" r:id="rId16"/>
    <p:sldId id="269" r:id="rId17"/>
    <p:sldId id="270" r:id="rId18"/>
    <p:sldId id="310" r:id="rId19"/>
    <p:sldId id="286" r:id="rId20"/>
    <p:sldId id="287" r:id="rId21"/>
    <p:sldId id="288" r:id="rId22"/>
    <p:sldId id="289" r:id="rId23"/>
    <p:sldId id="285" r:id="rId24"/>
    <p:sldId id="272" r:id="rId25"/>
    <p:sldId id="273" r:id="rId26"/>
    <p:sldId id="274" r:id="rId27"/>
    <p:sldId id="275" r:id="rId28"/>
    <p:sldId id="276" r:id="rId29"/>
    <p:sldId id="277" r:id="rId30"/>
    <p:sldId id="297" r:id="rId31"/>
    <p:sldId id="298" r:id="rId32"/>
    <p:sldId id="299" r:id="rId33"/>
    <p:sldId id="300" r:id="rId34"/>
    <p:sldId id="301" r:id="rId35"/>
    <p:sldId id="302" r:id="rId36"/>
    <p:sldId id="303" r:id="rId37"/>
    <p:sldId id="304" r:id="rId38"/>
    <p:sldId id="305" r:id="rId39"/>
    <p:sldId id="307" r:id="rId40"/>
    <p:sldId id="308" r:id="rId41"/>
    <p:sldId id="309" r:id="rId42"/>
    <p:sldId id="278" r:id="rId43"/>
    <p:sldId id="311" r:id="rId44"/>
    <p:sldId id="293"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0"/>
  </p:normalViewPr>
  <p:slideViewPr>
    <p:cSldViewPr snapToGrid="0">
      <p:cViewPr varScale="1">
        <p:scale>
          <a:sx n="78" d="100"/>
          <a:sy n="78" d="100"/>
        </p:scale>
        <p:origin x="5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3C02BC-E37D-6BBC-B8EF-62E130D0DA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a:t>Slide No</a:t>
            </a:r>
          </a:p>
        </p:txBody>
      </p:sp>
      <p:sp>
        <p:nvSpPr>
          <p:cNvPr id="3" name="Date Placeholder 2">
            <a:extLst>
              <a:ext uri="{FF2B5EF4-FFF2-40B4-BE49-F238E27FC236}">
                <a16:creationId xmlns:a16="http://schemas.microsoft.com/office/drawing/2014/main" id="{34E8CF64-57A2-CA30-D640-AD0E0E8263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5B12A4-4842-4490-9323-A559557BD391}" type="datetimeFigureOut">
              <a:rPr lang="en-IN" smtClean="0"/>
              <a:t>03-01-2025</a:t>
            </a:fld>
            <a:endParaRPr lang="en-IN" dirty="0"/>
          </a:p>
        </p:txBody>
      </p:sp>
      <p:sp>
        <p:nvSpPr>
          <p:cNvPr id="4" name="Footer Placeholder 3">
            <a:extLst>
              <a:ext uri="{FF2B5EF4-FFF2-40B4-BE49-F238E27FC236}">
                <a16:creationId xmlns:a16="http://schemas.microsoft.com/office/drawing/2014/main" id="{BDA8E350-FEAD-185C-C7D9-D78CAB7458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94A21C8D-6543-5A59-E8A9-4F62C11A24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909A70-60C9-4DD1-80CC-15637607251B}" type="slidenum">
              <a:rPr lang="en-IN" smtClean="0"/>
              <a:t>‹#›</a:t>
            </a:fld>
            <a:endParaRPr lang="en-IN" dirty="0"/>
          </a:p>
        </p:txBody>
      </p:sp>
    </p:spTree>
    <p:extLst>
      <p:ext uri="{BB962C8B-B14F-4D97-AF65-F5344CB8AC3E}">
        <p14:creationId xmlns:p14="http://schemas.microsoft.com/office/powerpoint/2010/main" val="231359764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a:t>Slide No</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463A2-15C0-459D-8720-65E10CC44295}" type="datetimeFigureOut">
              <a:rPr lang="en-IN" smtClean="0"/>
              <a:t>03-01-2025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450895-255E-4FA3-A4B8-BEE6B491F1D9}" type="slidenum">
              <a:rPr lang="en-IN" smtClean="0"/>
              <a:t>‹#›</a:t>
            </a:fld>
            <a:endParaRPr lang="en-IN" dirty="0"/>
          </a:p>
        </p:txBody>
      </p:sp>
    </p:spTree>
    <p:extLst>
      <p:ext uri="{BB962C8B-B14F-4D97-AF65-F5344CB8AC3E}">
        <p14:creationId xmlns:p14="http://schemas.microsoft.com/office/powerpoint/2010/main" val="16054063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dirty="0"/>
              <a:t>Slide No</a:t>
            </a:r>
          </a:p>
        </p:txBody>
      </p:sp>
      <p:sp>
        <p:nvSpPr>
          <p:cNvPr id="5" name="Slide Number Placeholder 4"/>
          <p:cNvSpPr>
            <a:spLocks noGrp="1"/>
          </p:cNvSpPr>
          <p:nvPr>
            <p:ph type="sldNum" sz="quarter" idx="5"/>
          </p:nvPr>
        </p:nvSpPr>
        <p:spPr/>
        <p:txBody>
          <a:bodyPr/>
          <a:lstStyle/>
          <a:p>
            <a:fld id="{12450895-255E-4FA3-A4B8-BEE6B491F1D9}" type="slidenum">
              <a:rPr lang="en-IN" smtClean="0"/>
              <a:t>9</a:t>
            </a:fld>
            <a:endParaRPr lang="en-IN" dirty="0"/>
          </a:p>
        </p:txBody>
      </p:sp>
    </p:spTree>
    <p:extLst>
      <p:ext uri="{BB962C8B-B14F-4D97-AF65-F5344CB8AC3E}">
        <p14:creationId xmlns:p14="http://schemas.microsoft.com/office/powerpoint/2010/main" val="2840575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dirty="0"/>
              <a:t>Slide No</a:t>
            </a:r>
          </a:p>
        </p:txBody>
      </p:sp>
      <p:sp>
        <p:nvSpPr>
          <p:cNvPr id="5" name="Slide Number Placeholder 4"/>
          <p:cNvSpPr>
            <a:spLocks noGrp="1"/>
          </p:cNvSpPr>
          <p:nvPr>
            <p:ph type="sldNum" sz="quarter" idx="5"/>
          </p:nvPr>
        </p:nvSpPr>
        <p:spPr/>
        <p:txBody>
          <a:bodyPr/>
          <a:lstStyle/>
          <a:p>
            <a:fld id="{12450895-255E-4FA3-A4B8-BEE6B491F1D9}" type="slidenum">
              <a:rPr lang="en-IN" smtClean="0"/>
              <a:t>13</a:t>
            </a:fld>
            <a:endParaRPr lang="en-IN" dirty="0"/>
          </a:p>
        </p:txBody>
      </p:sp>
    </p:spTree>
    <p:extLst>
      <p:ext uri="{BB962C8B-B14F-4D97-AF65-F5344CB8AC3E}">
        <p14:creationId xmlns:p14="http://schemas.microsoft.com/office/powerpoint/2010/main" val="603365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dirty="0"/>
              <a:t>Slide No</a:t>
            </a:r>
          </a:p>
        </p:txBody>
      </p:sp>
      <p:sp>
        <p:nvSpPr>
          <p:cNvPr id="5" name="Slide Number Placeholder 4"/>
          <p:cNvSpPr>
            <a:spLocks noGrp="1"/>
          </p:cNvSpPr>
          <p:nvPr>
            <p:ph type="sldNum" sz="quarter" idx="5"/>
          </p:nvPr>
        </p:nvSpPr>
        <p:spPr/>
        <p:txBody>
          <a:bodyPr/>
          <a:lstStyle/>
          <a:p>
            <a:fld id="{12450895-255E-4FA3-A4B8-BEE6B491F1D9}" type="slidenum">
              <a:rPr lang="en-IN" smtClean="0"/>
              <a:t>17</a:t>
            </a:fld>
            <a:endParaRPr lang="en-IN" dirty="0"/>
          </a:p>
        </p:txBody>
      </p:sp>
    </p:spTree>
    <p:extLst>
      <p:ext uri="{BB962C8B-B14F-4D97-AF65-F5344CB8AC3E}">
        <p14:creationId xmlns:p14="http://schemas.microsoft.com/office/powerpoint/2010/main" val="2156308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dirty="0"/>
              <a:t>Slide No</a:t>
            </a:r>
          </a:p>
        </p:txBody>
      </p:sp>
      <p:sp>
        <p:nvSpPr>
          <p:cNvPr id="5" name="Slide Number Placeholder 4"/>
          <p:cNvSpPr>
            <a:spLocks noGrp="1"/>
          </p:cNvSpPr>
          <p:nvPr>
            <p:ph type="sldNum" sz="quarter" idx="5"/>
          </p:nvPr>
        </p:nvSpPr>
        <p:spPr/>
        <p:txBody>
          <a:bodyPr/>
          <a:lstStyle/>
          <a:p>
            <a:fld id="{12450895-255E-4FA3-A4B8-BEE6B491F1D9}" type="slidenum">
              <a:rPr lang="en-IN" smtClean="0"/>
              <a:t>26</a:t>
            </a:fld>
            <a:endParaRPr lang="en-IN" dirty="0"/>
          </a:p>
        </p:txBody>
      </p:sp>
    </p:spTree>
    <p:extLst>
      <p:ext uri="{BB962C8B-B14F-4D97-AF65-F5344CB8AC3E}">
        <p14:creationId xmlns:p14="http://schemas.microsoft.com/office/powerpoint/2010/main" val="3758874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dirty="0"/>
              <a:t>Slide No</a:t>
            </a:r>
          </a:p>
        </p:txBody>
      </p:sp>
      <p:sp>
        <p:nvSpPr>
          <p:cNvPr id="5" name="Slide Number Placeholder 4"/>
          <p:cNvSpPr>
            <a:spLocks noGrp="1"/>
          </p:cNvSpPr>
          <p:nvPr>
            <p:ph type="sldNum" sz="quarter" idx="5"/>
          </p:nvPr>
        </p:nvSpPr>
        <p:spPr/>
        <p:txBody>
          <a:bodyPr/>
          <a:lstStyle/>
          <a:p>
            <a:fld id="{12450895-255E-4FA3-A4B8-BEE6B491F1D9}" type="slidenum">
              <a:rPr lang="en-IN" smtClean="0"/>
              <a:t>34</a:t>
            </a:fld>
            <a:endParaRPr lang="en-IN" dirty="0"/>
          </a:p>
        </p:txBody>
      </p:sp>
    </p:spTree>
    <p:extLst>
      <p:ext uri="{BB962C8B-B14F-4D97-AF65-F5344CB8AC3E}">
        <p14:creationId xmlns:p14="http://schemas.microsoft.com/office/powerpoint/2010/main" val="4027281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86874C-ABC4-48FE-9F52-EC0399E5DFBC}"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2415338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4EDDB8-EFDD-4066-88C9-ACFF88A2A10C}"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1310181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018447-6367-48F8-8794-26AAB3614D5F}"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1391384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8D40EC-2CAA-48DC-8F75-041CF3859E30}" type="datetime1">
              <a:rPr lang="en-IN" smtClean="0"/>
              <a:t>03-01-2025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204875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60FE03-AB5A-422D-87C4-8EB1DDE4F21C}" type="datetime1">
              <a:rPr lang="en-IN" smtClean="0"/>
              <a:t>03-01-2025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331392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6FD8E-15FC-4642-8D9A-7004C40CAC69}" type="datetime1">
              <a:rPr lang="en-IN" smtClean="0"/>
              <a:t>03-01-2025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4191884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1B8959-4DBB-4C0B-B15A-527A0529A064}" type="datetime1">
              <a:rPr lang="en-IN" smtClean="0"/>
              <a:t>03-01-2025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521343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8070D4-6670-4935-8C49-2E801939CA38}" type="datetime1">
              <a:rPr lang="en-IN" smtClean="0"/>
              <a:t>03-01-2025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2525785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E2BFBC-8B3B-46AF-9498-1CDB1E3972CA}" type="datetime1">
              <a:rPr lang="en-IN" smtClean="0"/>
              <a:t>03-01-2025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3615175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3DFE1B-8041-497A-9586-B956105C4B2D}"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3692602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B48E57-B801-4BA9-8F80-E21A45490E72}"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D3E3056-22A3-4E2C-9164-3EEDF19BB457}" type="slidenum">
              <a:rPr lang="en-IN" smtClean="0"/>
              <a:t>‹#›</a:t>
            </a:fld>
            <a:endParaRPr lang="en-IN"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32249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B23D67F-AD50-4452-AD8C-5757AE69BC13}" type="datetime1">
              <a:rPr lang="en-IN" smtClean="0"/>
              <a:t>03-01-2025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1519388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CF71201-722A-475B-8338-9F8AC11E5A85}" type="datetime1">
              <a:rPr lang="en-IN" smtClean="0"/>
              <a:t>03-01-2025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D3E3056-22A3-4E2C-9164-3EEDF19BB457}" type="slidenum">
              <a:rPr lang="en-IN" smtClean="0"/>
              <a:t>‹#›</a:t>
            </a:fld>
            <a:endParaRPr lang="en-IN"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7062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C7EDE39-EAB4-4410-8437-A01326695CD2}" type="datetime1">
              <a:rPr lang="en-IN" smtClean="0"/>
              <a:t>03-01-2025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1742567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F85BCE-0468-4064-AD94-2DAE34750471}"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2040627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1E7218-F8C8-4430-B634-CA85489C5FC3}" type="datetime1">
              <a:rPr lang="en-IN" smtClean="0"/>
              <a:t>03-01-2025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D3E3056-22A3-4E2C-9164-3EEDF19BB457}" type="slidenum">
              <a:rPr lang="en-IN" smtClean="0"/>
              <a:t>‹#›</a:t>
            </a:fld>
            <a:endParaRPr lang="en-IN" dirty="0"/>
          </a:p>
        </p:txBody>
      </p:sp>
    </p:spTree>
    <p:extLst>
      <p:ext uri="{BB962C8B-B14F-4D97-AF65-F5344CB8AC3E}">
        <p14:creationId xmlns:p14="http://schemas.microsoft.com/office/powerpoint/2010/main" val="3912421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F179A36-06B0-4B06-A9A7-94FC68DB987A}" type="datetime1">
              <a:rPr lang="en-IN" smtClean="0"/>
              <a:t>03-01-2025</a:t>
            </a:fld>
            <a:endParaRPr lang="en-IN"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D3E3056-22A3-4E2C-9164-3EEDF19BB457}" type="slidenum">
              <a:rPr lang="en-IN" smtClean="0"/>
              <a:t>‹#›</a:t>
            </a:fld>
            <a:endParaRPr lang="en-IN" dirty="0"/>
          </a:p>
        </p:txBody>
      </p:sp>
    </p:spTree>
    <p:extLst>
      <p:ext uri="{BB962C8B-B14F-4D97-AF65-F5344CB8AC3E}">
        <p14:creationId xmlns:p14="http://schemas.microsoft.com/office/powerpoint/2010/main" val="92911443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BB91-9D34-07FD-1E34-F79D1D933C5A}"/>
              </a:ext>
            </a:extLst>
          </p:cNvPr>
          <p:cNvSpPr>
            <a:spLocks noGrp="1"/>
          </p:cNvSpPr>
          <p:nvPr>
            <p:ph type="ctrTitle"/>
          </p:nvPr>
        </p:nvSpPr>
        <p:spPr>
          <a:xfrm>
            <a:off x="1076446" y="372962"/>
            <a:ext cx="9591554" cy="1343860"/>
          </a:xfrm>
        </p:spPr>
        <p:txBody>
          <a:bodyPr>
            <a:noAutofit/>
          </a:bodyPr>
          <a:lstStyle/>
          <a:p>
            <a:r>
              <a:rPr lang="en-US" sz="4400" b="1" dirty="0">
                <a:solidFill>
                  <a:srgbClr val="C00000"/>
                </a:solidFill>
              </a:rPr>
              <a:t>Onion Price Analysis And Forecasting </a:t>
            </a:r>
            <a:endParaRPr lang="en-IN" sz="4400" b="1" dirty="0">
              <a:solidFill>
                <a:srgbClr val="C00000"/>
              </a:solidFill>
            </a:endParaRPr>
          </a:p>
        </p:txBody>
      </p:sp>
      <p:sp>
        <p:nvSpPr>
          <p:cNvPr id="3" name="Subtitle 2">
            <a:extLst>
              <a:ext uri="{FF2B5EF4-FFF2-40B4-BE49-F238E27FC236}">
                <a16:creationId xmlns:a16="http://schemas.microsoft.com/office/drawing/2014/main" id="{CF484617-BCF1-EA60-575C-8A753C82325B}"/>
              </a:ext>
            </a:extLst>
          </p:cNvPr>
          <p:cNvSpPr>
            <a:spLocks noGrp="1"/>
          </p:cNvSpPr>
          <p:nvPr>
            <p:ph type="subTitle" idx="1"/>
          </p:nvPr>
        </p:nvSpPr>
        <p:spPr>
          <a:xfrm>
            <a:off x="835742" y="2585942"/>
            <a:ext cx="9144000" cy="3269160"/>
          </a:xfrm>
        </p:spPr>
        <p:txBody>
          <a:bodyPr>
            <a:normAutofit fontScale="62500" lnSpcReduction="20000"/>
          </a:bodyPr>
          <a:lstStyle/>
          <a:p>
            <a:pPr algn="ctr"/>
            <a:r>
              <a:rPr lang="en-IN" sz="3300" b="1" dirty="0"/>
              <a:t>Uma Bhokare (2306) </a:t>
            </a:r>
          </a:p>
          <a:p>
            <a:pPr algn="ctr"/>
            <a:r>
              <a:rPr lang="en-IN" sz="3300" b="1" dirty="0"/>
              <a:t>Pravin Ahire (2301) </a:t>
            </a:r>
          </a:p>
          <a:p>
            <a:pPr algn="ctr"/>
            <a:endParaRPr lang="en-IN" dirty="0"/>
          </a:p>
          <a:p>
            <a:pPr algn="ctr"/>
            <a:r>
              <a:rPr lang="en-US" sz="3700" dirty="0"/>
              <a:t>Department of Statistics</a:t>
            </a:r>
          </a:p>
          <a:p>
            <a:pPr algn="ctr"/>
            <a:r>
              <a:rPr lang="en-US" sz="3700" dirty="0"/>
              <a:t> Savitribai Phule Pune University </a:t>
            </a:r>
          </a:p>
          <a:p>
            <a:pPr algn="ctr"/>
            <a:r>
              <a:rPr lang="en-US" sz="3700" dirty="0"/>
              <a:t>Pune- 411007</a:t>
            </a:r>
            <a:endParaRPr lang="en-IN" sz="3700" dirty="0"/>
          </a:p>
          <a:p>
            <a:pPr algn="ctr"/>
            <a:endParaRPr lang="en-IN" sz="3700" dirty="0"/>
          </a:p>
          <a:p>
            <a:pPr algn="ctr"/>
            <a:r>
              <a:rPr lang="en-IN" sz="3700" dirty="0"/>
              <a:t>Research Project</a:t>
            </a:r>
          </a:p>
        </p:txBody>
      </p:sp>
      <p:sp>
        <p:nvSpPr>
          <p:cNvPr id="4" name="Slide Number Placeholder 3">
            <a:extLst>
              <a:ext uri="{FF2B5EF4-FFF2-40B4-BE49-F238E27FC236}">
                <a16:creationId xmlns:a16="http://schemas.microsoft.com/office/drawing/2014/main" id="{670B22EA-02D3-29E3-D591-FA0CF24096AC}"/>
              </a:ext>
            </a:extLst>
          </p:cNvPr>
          <p:cNvSpPr>
            <a:spLocks noGrp="1"/>
          </p:cNvSpPr>
          <p:nvPr>
            <p:ph type="sldNum" sz="quarter" idx="12"/>
          </p:nvPr>
        </p:nvSpPr>
        <p:spPr>
          <a:xfrm>
            <a:off x="9296400" y="113048"/>
            <a:ext cx="2743200" cy="365125"/>
          </a:xfrm>
        </p:spPr>
        <p:txBody>
          <a:bodyPr/>
          <a:lstStyle/>
          <a:p>
            <a:r>
              <a:rPr lang="en-IN" sz="1600" b="1" dirty="0">
                <a:solidFill>
                  <a:schemeClr val="tx1"/>
                </a:solidFill>
              </a:rPr>
              <a:t>  Slide </a:t>
            </a:r>
            <a:fld id="{ED7F3335-6ECD-4F28-928B-C0256FCBF55B}" type="slidenum">
              <a:rPr lang="en-IN" sz="1600" b="1" smtClean="0">
                <a:solidFill>
                  <a:schemeClr val="tx1"/>
                </a:solidFill>
              </a:rPr>
              <a:t>1</a:t>
            </a:fld>
            <a:endParaRPr lang="en-IN" sz="1600" b="1" dirty="0">
              <a:solidFill>
                <a:schemeClr val="tx1"/>
              </a:solidFill>
            </a:endParaRPr>
          </a:p>
        </p:txBody>
      </p:sp>
      <p:pic>
        <p:nvPicPr>
          <p:cNvPr id="5" name="Picture Placeholder 4">
            <a:extLst>
              <a:ext uri="{FF2B5EF4-FFF2-40B4-BE49-F238E27FC236}">
                <a16:creationId xmlns:a16="http://schemas.microsoft.com/office/drawing/2014/main" id="{BAE2A60D-C80D-9D25-75FF-D7B522AE38C8}"/>
              </a:ext>
            </a:extLst>
          </p:cNvPr>
          <p:cNvPicPr>
            <a:picLocks noChangeAspect="1"/>
          </p:cNvPicPr>
          <p:nvPr/>
        </p:nvPicPr>
        <p:blipFill>
          <a:blip r:embed="rId2"/>
          <a:srcRect l="21161" r="21161"/>
          <a:stretch>
            <a:fillRect/>
          </a:stretch>
        </p:blipFill>
        <p:spPr>
          <a:xfrm>
            <a:off x="8563897" y="0"/>
            <a:ext cx="3628102" cy="6858000"/>
          </a:xfrm>
          <a:prstGeom prst="rect">
            <a:avLst/>
          </a:prstGeom>
        </p:spPr>
      </p:pic>
    </p:spTree>
    <p:extLst>
      <p:ext uri="{BB962C8B-B14F-4D97-AF65-F5344CB8AC3E}">
        <p14:creationId xmlns:p14="http://schemas.microsoft.com/office/powerpoint/2010/main" val="3482932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4EF0-CF8E-A4A7-1456-606AE3CF2423}"/>
              </a:ext>
            </a:extLst>
          </p:cNvPr>
          <p:cNvSpPr>
            <a:spLocks noGrp="1"/>
          </p:cNvSpPr>
          <p:nvPr>
            <p:ph type="ctrTitle"/>
          </p:nvPr>
        </p:nvSpPr>
        <p:spPr>
          <a:xfrm>
            <a:off x="1433565" y="861106"/>
            <a:ext cx="2937468" cy="689659"/>
          </a:xfrm>
        </p:spPr>
        <p:txBody>
          <a:bodyPr>
            <a:normAutofit fontScale="90000"/>
          </a:bodyPr>
          <a:lstStyle/>
          <a:p>
            <a:r>
              <a:rPr lang="en-IN" b="1" dirty="0">
                <a:solidFill>
                  <a:srgbClr val="C00000"/>
                </a:solidFill>
              </a:rPr>
              <a:t>Outline</a:t>
            </a:r>
            <a:r>
              <a:rPr lang="en-IN" dirty="0"/>
              <a:t> </a:t>
            </a:r>
          </a:p>
        </p:txBody>
      </p:sp>
      <p:sp>
        <p:nvSpPr>
          <p:cNvPr id="3" name="Subtitle 2">
            <a:extLst>
              <a:ext uri="{FF2B5EF4-FFF2-40B4-BE49-F238E27FC236}">
                <a16:creationId xmlns:a16="http://schemas.microsoft.com/office/drawing/2014/main" id="{BFA9E088-7465-A339-2C5C-FF4520A171CC}"/>
              </a:ext>
            </a:extLst>
          </p:cNvPr>
          <p:cNvSpPr>
            <a:spLocks noGrp="1"/>
          </p:cNvSpPr>
          <p:nvPr>
            <p:ph type="subTitle" idx="1"/>
          </p:nvPr>
        </p:nvSpPr>
        <p:spPr>
          <a:xfrm>
            <a:off x="3860381" y="2130407"/>
            <a:ext cx="6931549" cy="2915572"/>
          </a:xfrm>
        </p:spPr>
        <p:txBody>
          <a:bodyPr>
            <a:normAutofit/>
          </a:bodyPr>
          <a:lstStyle/>
          <a:p>
            <a:pPr marL="342900" indent="-342900" algn="l">
              <a:buFont typeface="Arial" panose="020B0604020202020204" pitchFamily="34" charset="0"/>
              <a:buChar char="•"/>
            </a:pPr>
            <a:r>
              <a:rPr lang="en-IN" b="1" dirty="0"/>
              <a:t>Introduction</a:t>
            </a:r>
          </a:p>
          <a:p>
            <a:pPr marL="342900" indent="-342900" algn="l">
              <a:buFont typeface="Arial" panose="020B0604020202020204" pitchFamily="34" charset="0"/>
              <a:buChar char="•"/>
            </a:pPr>
            <a:r>
              <a:rPr lang="en-IN" b="1" dirty="0"/>
              <a:t>Data Description</a:t>
            </a:r>
          </a:p>
          <a:p>
            <a:pPr marL="342900" indent="-342900" algn="l">
              <a:buFont typeface="Arial" panose="020B0604020202020204" pitchFamily="34" charset="0"/>
              <a:buChar char="•"/>
            </a:pPr>
            <a:r>
              <a:rPr lang="en-IN" b="1" dirty="0"/>
              <a:t>Analysis</a:t>
            </a:r>
          </a:p>
          <a:p>
            <a:pPr marL="342900" indent="-342900" algn="l">
              <a:buFont typeface="Arial" panose="020B0604020202020204" pitchFamily="34" charset="0"/>
              <a:buChar char="•"/>
            </a:pPr>
            <a:r>
              <a:rPr lang="en-IN" b="1" dirty="0"/>
              <a:t>Conclusion</a:t>
            </a:r>
          </a:p>
          <a:p>
            <a:pPr marL="342900" indent="-342900" algn="l">
              <a:buFont typeface="Arial" panose="020B0604020202020204" pitchFamily="34" charset="0"/>
              <a:buChar char="•"/>
            </a:pPr>
            <a:r>
              <a:rPr lang="en-IN" b="1" dirty="0"/>
              <a:t>Limitations and Future Scope</a:t>
            </a:r>
          </a:p>
          <a:p>
            <a:pPr algn="l"/>
            <a:endParaRPr lang="en-IN" b="1" dirty="0"/>
          </a:p>
          <a:p>
            <a:pPr marL="342900" indent="-342900" algn="l">
              <a:buFont typeface="Arial" panose="020B0604020202020204" pitchFamily="34" charset="0"/>
              <a:buChar char="•"/>
            </a:pPr>
            <a:endParaRPr lang="en-IN" b="1" dirty="0"/>
          </a:p>
          <a:p>
            <a:pPr algn="l"/>
            <a:endParaRPr lang="en-IN" b="1" dirty="0"/>
          </a:p>
        </p:txBody>
      </p:sp>
      <p:sp>
        <p:nvSpPr>
          <p:cNvPr id="7" name="TextBox 6">
            <a:extLst>
              <a:ext uri="{FF2B5EF4-FFF2-40B4-BE49-F238E27FC236}">
                <a16:creationId xmlns:a16="http://schemas.microsoft.com/office/drawing/2014/main" id="{8E2ECC81-EFFC-0FE0-814C-92AE53D2D0E2}"/>
              </a:ext>
            </a:extLst>
          </p:cNvPr>
          <p:cNvSpPr txBox="1"/>
          <p:nvPr/>
        </p:nvSpPr>
        <p:spPr>
          <a:xfrm>
            <a:off x="11112956" y="136024"/>
            <a:ext cx="6094602" cy="369332"/>
          </a:xfrm>
          <a:prstGeom prst="rect">
            <a:avLst/>
          </a:prstGeom>
          <a:noFill/>
        </p:spPr>
        <p:txBody>
          <a:bodyPr wrap="square">
            <a:spAutoFit/>
          </a:bodyPr>
          <a:lstStyle/>
          <a:p>
            <a:r>
              <a:rPr lang="en-IN" sz="1800" b="1" dirty="0">
                <a:solidFill>
                  <a:schemeClr val="tx1"/>
                </a:solidFill>
              </a:rPr>
              <a:t> Slide </a:t>
            </a:r>
            <a:fld id="{ED7F3335-6ECD-4F28-928B-C0256FCBF55B}" type="slidenum">
              <a:rPr lang="en-IN" sz="1800" b="1" smtClean="0">
                <a:solidFill>
                  <a:schemeClr val="tx1"/>
                </a:solidFill>
              </a:rPr>
              <a:pPr/>
              <a:t>2</a:t>
            </a:fld>
            <a:endParaRPr lang="en-IN" dirty="0"/>
          </a:p>
        </p:txBody>
      </p:sp>
    </p:spTree>
    <p:extLst>
      <p:ext uri="{BB962C8B-B14F-4D97-AF65-F5344CB8AC3E}">
        <p14:creationId xmlns:p14="http://schemas.microsoft.com/office/powerpoint/2010/main" val="491837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C46CE-AFEF-D428-2634-A0BDA0AC0B3C}"/>
              </a:ext>
            </a:extLst>
          </p:cNvPr>
          <p:cNvSpPr>
            <a:spLocks noGrp="1"/>
          </p:cNvSpPr>
          <p:nvPr>
            <p:ph type="title"/>
          </p:nvPr>
        </p:nvSpPr>
        <p:spPr>
          <a:xfrm>
            <a:off x="3864077" y="262849"/>
            <a:ext cx="4710522" cy="890058"/>
          </a:xfrm>
        </p:spPr>
        <p:txBody>
          <a:bodyPr/>
          <a:lstStyle/>
          <a:p>
            <a:pPr algn="ctr"/>
            <a:r>
              <a:rPr lang="en-IN" b="1" dirty="0">
                <a:solidFill>
                  <a:srgbClr val="C00000"/>
                </a:solidFill>
              </a:rPr>
              <a:t>Introduction</a:t>
            </a:r>
          </a:p>
        </p:txBody>
      </p:sp>
      <p:sp>
        <p:nvSpPr>
          <p:cNvPr id="3" name="Content Placeholder 2">
            <a:extLst>
              <a:ext uri="{FF2B5EF4-FFF2-40B4-BE49-F238E27FC236}">
                <a16:creationId xmlns:a16="http://schemas.microsoft.com/office/drawing/2014/main" id="{146B5A2F-5B2D-2918-375E-9F054CD32028}"/>
              </a:ext>
            </a:extLst>
          </p:cNvPr>
          <p:cNvSpPr>
            <a:spLocks noGrp="1"/>
          </p:cNvSpPr>
          <p:nvPr>
            <p:ph idx="1"/>
          </p:nvPr>
        </p:nvSpPr>
        <p:spPr>
          <a:xfrm>
            <a:off x="1311579" y="1404394"/>
            <a:ext cx="10437969" cy="4317980"/>
          </a:xfrm>
        </p:spPr>
        <p:txBody>
          <a:bodyPr>
            <a:normAutofit/>
          </a:bodyPr>
          <a:lstStyle/>
          <a:p>
            <a:r>
              <a:rPr lang="en-US" b="1" dirty="0"/>
              <a:t>1)Imagine the benefits of predicting the price of essential items like vegetables in advance. Vegetables, being a staple in every kitchen, have prices that significantly impact households, especially middle and lower-income families.</a:t>
            </a:r>
          </a:p>
          <a:p>
            <a:r>
              <a:rPr lang="en-US" b="1" dirty="0"/>
              <a:t>2) For farmers, accurate price forecasts can help optimize production, storage, and sales decisions, ensuring better profitability. Onion prices, known for their volatility, are influenced by factors such as climate, production costs, storage capabilities, and seasonal demand. This unpredictability affects both producers and consumers, highlighting the need for robust forecasting models.</a:t>
            </a:r>
          </a:p>
          <a:p>
            <a:r>
              <a:rPr lang="en-US" b="1" dirty="0"/>
              <a:t>3)</a:t>
            </a:r>
            <a:r>
              <a:rPr lang="en-US" b="1" dirty="0">
                <a:solidFill>
                  <a:schemeClr val="tx1">
                    <a:lumMod val="95000"/>
                    <a:lumOff val="5000"/>
                  </a:schemeClr>
                </a:solidFill>
              </a:rPr>
              <a:t>Maharashtra</a:t>
            </a:r>
            <a:r>
              <a:rPr lang="en-US" b="1" dirty="0"/>
              <a:t>, contributing over </a:t>
            </a:r>
            <a:r>
              <a:rPr lang="en-US" b="1" dirty="0">
                <a:solidFill>
                  <a:schemeClr val="tx1">
                    <a:lumMod val="95000"/>
                    <a:lumOff val="5000"/>
                  </a:schemeClr>
                </a:solidFill>
              </a:rPr>
              <a:t>30% of India’s onion production</a:t>
            </a:r>
            <a:r>
              <a:rPr lang="en-US" b="1" dirty="0"/>
              <a:t>, is the largest producer in the country, with </a:t>
            </a:r>
            <a:r>
              <a:rPr lang="en-US" b="1" dirty="0">
                <a:solidFill>
                  <a:schemeClr val="tx1">
                    <a:lumMod val="95000"/>
                    <a:lumOff val="5000"/>
                  </a:schemeClr>
                </a:solidFill>
              </a:rPr>
              <a:t>Pune district </a:t>
            </a:r>
            <a:r>
              <a:rPr lang="en-US" b="1" dirty="0"/>
              <a:t>playing a key role in supplying high-quality onions for domestic and export markets. However, onion prices remain highly volatile due to climate, production costs, storage, and seasonal demand </a:t>
            </a:r>
          </a:p>
          <a:p>
            <a:r>
              <a:rPr lang="en-US" b="1" dirty="0"/>
              <a:t>4)Our project, </a:t>
            </a:r>
            <a:r>
              <a:rPr lang="en-US" b="1" dirty="0">
                <a:solidFill>
                  <a:schemeClr val="tx1">
                    <a:lumMod val="95000"/>
                    <a:lumOff val="5000"/>
                  </a:schemeClr>
                </a:solidFill>
              </a:rPr>
              <a:t>"Onion Price Analysis and Forecasting," </a:t>
            </a:r>
            <a:r>
              <a:rPr lang="en-US" b="1" dirty="0"/>
              <a:t>utilizes historical data (2013-2024) and advanced techniques like Time Series  Models to predict onion prices.</a:t>
            </a:r>
          </a:p>
        </p:txBody>
      </p:sp>
      <p:sp>
        <p:nvSpPr>
          <p:cNvPr id="4" name="Slide Number Placeholder 3">
            <a:extLst>
              <a:ext uri="{FF2B5EF4-FFF2-40B4-BE49-F238E27FC236}">
                <a16:creationId xmlns:a16="http://schemas.microsoft.com/office/drawing/2014/main" id="{897C2E63-C1CD-ADA9-1746-CF406A46FFCF}"/>
              </a:ext>
            </a:extLst>
          </p:cNvPr>
          <p:cNvSpPr>
            <a:spLocks noGrp="1"/>
          </p:cNvSpPr>
          <p:nvPr>
            <p:ph type="sldNum" sz="quarter" idx="12"/>
          </p:nvPr>
        </p:nvSpPr>
        <p:spPr/>
        <p:txBody>
          <a:bodyPr/>
          <a:lstStyle/>
          <a:p>
            <a:fld id="{0D3E3056-22A3-4E2C-9164-3EEDF19BB457}" type="slidenum">
              <a:rPr lang="en-IN" smtClean="0"/>
              <a:t>3</a:t>
            </a:fld>
            <a:endParaRPr lang="en-IN" dirty="0"/>
          </a:p>
        </p:txBody>
      </p:sp>
    </p:spTree>
    <p:extLst>
      <p:ext uri="{BB962C8B-B14F-4D97-AF65-F5344CB8AC3E}">
        <p14:creationId xmlns:p14="http://schemas.microsoft.com/office/powerpoint/2010/main" val="380913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5FFB-C7AF-D876-B93A-4A85A26476BA}"/>
              </a:ext>
            </a:extLst>
          </p:cNvPr>
          <p:cNvSpPr>
            <a:spLocks noGrp="1"/>
          </p:cNvSpPr>
          <p:nvPr>
            <p:ph type="title"/>
          </p:nvPr>
        </p:nvSpPr>
        <p:spPr/>
        <p:txBody>
          <a:bodyPr/>
          <a:lstStyle/>
          <a:p>
            <a:r>
              <a:rPr lang="en-IN" b="1" dirty="0">
                <a:solidFill>
                  <a:srgbClr val="C00000"/>
                </a:solidFill>
              </a:rPr>
              <a:t>Introduction (Objectives)</a:t>
            </a:r>
          </a:p>
        </p:txBody>
      </p:sp>
      <p:sp>
        <p:nvSpPr>
          <p:cNvPr id="3" name="Content Placeholder 2">
            <a:extLst>
              <a:ext uri="{FF2B5EF4-FFF2-40B4-BE49-F238E27FC236}">
                <a16:creationId xmlns:a16="http://schemas.microsoft.com/office/drawing/2014/main" id="{BA472AE9-9D02-365A-0C16-D9D73C5B8A54}"/>
              </a:ext>
            </a:extLst>
          </p:cNvPr>
          <p:cNvSpPr>
            <a:spLocks noGrp="1"/>
          </p:cNvSpPr>
          <p:nvPr>
            <p:ph idx="1"/>
          </p:nvPr>
        </p:nvSpPr>
        <p:spPr>
          <a:xfrm>
            <a:off x="2589213" y="2323069"/>
            <a:ext cx="8260020" cy="2977979"/>
          </a:xfrm>
        </p:spPr>
        <p:txBody>
          <a:bodyPr>
            <a:normAutofit/>
          </a:bodyPr>
          <a:lstStyle/>
          <a:p>
            <a:r>
              <a:rPr lang="en-IN" sz="1600" b="1" dirty="0">
                <a:effectLst/>
                <a:ea typeface="Calibri" panose="020F0502020204030204" pitchFamily="34" charset="0"/>
              </a:rPr>
              <a:t>To identify seasonal variations and long term trends in price </a:t>
            </a:r>
            <a:r>
              <a:rPr lang="en-US" sz="1600" b="1" dirty="0"/>
              <a:t> .</a:t>
            </a:r>
          </a:p>
          <a:p>
            <a:r>
              <a:rPr lang="en-IN" sz="1600" b="1" kern="0" dirty="0">
                <a:effectLst/>
                <a:ea typeface="Calibri" panose="020F0502020204030204" pitchFamily="34" charset="0"/>
              </a:rPr>
              <a:t>Develop a predictive model to accurately forecast onion prices using historical data</a:t>
            </a:r>
          </a:p>
          <a:p>
            <a:r>
              <a:rPr lang="en-IN" sz="1600" b="1" kern="100" dirty="0">
                <a:effectLst/>
                <a:ea typeface="Calibri" panose="020F0502020204030204" pitchFamily="34" charset="0"/>
                <a:cs typeface="Times New Roman" panose="02020603050405020304" pitchFamily="18" charset="0"/>
              </a:rPr>
              <a:t>Analyse and compare onion price trends and volatility before and after the COVID-19 pandemic to assess its impact on the supply chain and market dynamics.</a:t>
            </a:r>
            <a:r>
              <a:rPr lang="en-US" sz="1600" b="1" dirty="0"/>
              <a:t>.</a:t>
            </a:r>
          </a:p>
          <a:p>
            <a:pPr marL="0" indent="0">
              <a:buNone/>
            </a:pPr>
            <a:endParaRPr lang="en-IN" b="1" dirty="0"/>
          </a:p>
        </p:txBody>
      </p:sp>
      <p:sp>
        <p:nvSpPr>
          <p:cNvPr id="4" name="Slide Number Placeholder 3">
            <a:extLst>
              <a:ext uri="{FF2B5EF4-FFF2-40B4-BE49-F238E27FC236}">
                <a16:creationId xmlns:a16="http://schemas.microsoft.com/office/drawing/2014/main" id="{A09D2F5E-AA4D-00D8-D742-AB9C82AA2EE4}"/>
              </a:ext>
            </a:extLst>
          </p:cNvPr>
          <p:cNvSpPr>
            <a:spLocks noGrp="1"/>
          </p:cNvSpPr>
          <p:nvPr>
            <p:ph type="sldNum" sz="quarter" idx="12"/>
          </p:nvPr>
        </p:nvSpPr>
        <p:spPr/>
        <p:txBody>
          <a:bodyPr/>
          <a:lstStyle/>
          <a:p>
            <a:fld id="{0D3E3056-22A3-4E2C-9164-3EEDF19BB457}" type="slidenum">
              <a:rPr lang="en-IN" smtClean="0"/>
              <a:t>4</a:t>
            </a:fld>
            <a:endParaRPr lang="en-IN" dirty="0"/>
          </a:p>
        </p:txBody>
      </p:sp>
    </p:spTree>
    <p:extLst>
      <p:ext uri="{BB962C8B-B14F-4D97-AF65-F5344CB8AC3E}">
        <p14:creationId xmlns:p14="http://schemas.microsoft.com/office/powerpoint/2010/main" val="4139004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8EFC-1802-6F70-497A-DACBA7FB0DC1}"/>
              </a:ext>
            </a:extLst>
          </p:cNvPr>
          <p:cNvSpPr>
            <a:spLocks noGrp="1"/>
          </p:cNvSpPr>
          <p:nvPr>
            <p:ph type="title"/>
          </p:nvPr>
        </p:nvSpPr>
        <p:spPr/>
        <p:txBody>
          <a:bodyPr/>
          <a:lstStyle/>
          <a:p>
            <a:r>
              <a:rPr lang="en-IN" dirty="0"/>
              <a:t>Data Description</a:t>
            </a:r>
          </a:p>
        </p:txBody>
      </p:sp>
      <p:sp>
        <p:nvSpPr>
          <p:cNvPr id="3" name="Content Placeholder 2">
            <a:extLst>
              <a:ext uri="{FF2B5EF4-FFF2-40B4-BE49-F238E27FC236}">
                <a16:creationId xmlns:a16="http://schemas.microsoft.com/office/drawing/2014/main" id="{3E239582-329D-D62C-45B9-A7E79AEE0B6A}"/>
              </a:ext>
            </a:extLst>
          </p:cNvPr>
          <p:cNvSpPr>
            <a:spLocks noGrp="1"/>
          </p:cNvSpPr>
          <p:nvPr>
            <p:ph idx="1"/>
          </p:nvPr>
        </p:nvSpPr>
        <p:spPr>
          <a:xfrm>
            <a:off x="1569308" y="1421027"/>
            <a:ext cx="9935304" cy="4534929"/>
          </a:xfrm>
        </p:spPr>
        <p:txBody>
          <a:bodyPr>
            <a:normAutofit fontScale="85000" lnSpcReduction="20000"/>
          </a:bodyPr>
          <a:lstStyle/>
          <a:p>
            <a:pPr marL="382905" indent="-368300">
              <a:spcBef>
                <a:spcPts val="85"/>
              </a:spcBef>
              <a:tabLst>
                <a:tab pos="382905" algn="l"/>
              </a:tabLst>
            </a:pPr>
            <a:r>
              <a:rPr lang="en-IN" sz="1800" b="0" kern="0" dirty="0">
                <a:effectLst/>
                <a:latin typeface="Times New Roman" panose="02020603050405020304" pitchFamily="18" charset="0"/>
                <a:ea typeface="Calibri" panose="020F0502020204030204" pitchFamily="34" charset="0"/>
              </a:rPr>
              <a:t>The dataset used in this project consists of 1,44,098 observations and 8 variables, providing comprehensive information about onion market trends across various districts and markets in Maharashtra, India, from 2013 to 2024 also form this dataset we use Pune city data for our  analysis Below is a brief description of the dataset's structure and variables:</a:t>
            </a: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a:t>
            </a: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District. Name:</a:t>
            </a:r>
            <a:r>
              <a:rPr lang="en-IN" sz="1800" b="0" kern="0" dirty="0">
                <a:effectLst/>
                <a:latin typeface="Times New Roman" panose="02020603050405020304" pitchFamily="18" charset="0"/>
                <a:ea typeface="Calibri" panose="020F0502020204030204" pitchFamily="34" charset="0"/>
              </a:rPr>
              <a:t> The name of the district where the market is located (e.g., Ahmednagar, Nashik).</a:t>
            </a:r>
            <a:endParaRPr lang="en-IN" sz="1800" b="1" kern="0" dirty="0">
              <a:effectLst/>
              <a:latin typeface="Calibri" panose="020F0502020204030204" pitchFamily="34" charset="0"/>
              <a:ea typeface="Calibri" panose="020F0502020204030204" pitchFamily="34" charset="0"/>
            </a:endParaRPr>
          </a:p>
          <a:p>
            <a:pPr marL="88900"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Market. Name:</a:t>
            </a:r>
            <a:r>
              <a:rPr lang="en-IN" sz="1800" b="0" kern="0" dirty="0">
                <a:effectLst/>
                <a:latin typeface="Times New Roman" panose="02020603050405020304" pitchFamily="18" charset="0"/>
                <a:ea typeface="Calibri" panose="020F0502020204030204" pitchFamily="34" charset="0"/>
              </a:rPr>
              <a:t> The specific market within the district (e.g., Ahmednagar, Chandvad).</a:t>
            </a:r>
            <a:endParaRPr lang="en-IN" sz="1800" b="1" kern="0" dirty="0">
              <a:effectLst/>
              <a:latin typeface="Calibri" panose="020F0502020204030204" pitchFamily="34" charset="0"/>
              <a:ea typeface="Calibri" panose="020F0502020204030204" pitchFamily="34" charset="0"/>
            </a:endParaRPr>
          </a:p>
          <a:p>
            <a:pPr marL="14605"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Variety:</a:t>
            </a:r>
            <a:r>
              <a:rPr lang="en-IN" sz="1800" b="0" kern="0" dirty="0">
                <a:effectLst/>
                <a:latin typeface="Times New Roman" panose="02020603050405020304" pitchFamily="18" charset="0"/>
                <a:ea typeface="Calibri" panose="020F0502020204030204" pitchFamily="34" charset="0"/>
              </a:rPr>
              <a:t> The type of onion traded, such as Other, Red, Local, White, and Hybrid.</a:t>
            </a:r>
            <a:endParaRPr lang="en-IN" sz="1800" b="1" kern="0" dirty="0">
              <a:effectLst/>
              <a:latin typeface="Calibri" panose="020F0502020204030204" pitchFamily="34" charset="0"/>
              <a:ea typeface="Calibri" panose="020F0502020204030204" pitchFamily="34" charset="0"/>
            </a:endParaRPr>
          </a:p>
          <a:p>
            <a:pPr marL="88900"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Arrivals. Tonnes.:</a:t>
            </a:r>
            <a:r>
              <a:rPr lang="en-IN" sz="1800" b="0" kern="0" dirty="0">
                <a:effectLst/>
                <a:latin typeface="Times New Roman" panose="02020603050405020304" pitchFamily="18" charset="0"/>
                <a:ea typeface="Calibri" panose="020F0502020204030204" pitchFamily="34" charset="0"/>
              </a:rPr>
              <a:t> The quantity of onion arrivals in the market, measured in tonnes.</a:t>
            </a:r>
            <a:endParaRPr lang="en-IN" sz="1800" b="1" kern="0" dirty="0">
              <a:effectLst/>
              <a:latin typeface="Calibri" panose="020F0502020204030204" pitchFamily="34" charset="0"/>
              <a:ea typeface="Calibri" panose="020F0502020204030204" pitchFamily="34" charset="0"/>
            </a:endParaRPr>
          </a:p>
          <a:p>
            <a:pPr marL="88900"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Min.Price..Rs..Quintal</a:t>
            </a:r>
            <a:r>
              <a:rPr lang="en-IN" sz="1800" b="0" kern="0" dirty="0">
                <a:effectLst/>
                <a:latin typeface="Times New Roman" panose="02020603050405020304" pitchFamily="18" charset="0"/>
                <a:ea typeface="Calibri" panose="020F0502020204030204" pitchFamily="34" charset="0"/>
              </a:rPr>
              <a:t>.: The minimum price of onions recorded in Rs./Quintal.</a:t>
            </a:r>
            <a:endParaRPr lang="en-IN" sz="1800" b="1" kern="0" dirty="0">
              <a:effectLst/>
              <a:latin typeface="Calibri" panose="020F0502020204030204" pitchFamily="34" charset="0"/>
              <a:ea typeface="Calibri" panose="020F0502020204030204" pitchFamily="34" charset="0"/>
            </a:endParaRPr>
          </a:p>
          <a:p>
            <a:pPr marL="88900"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Max.Price..Rs..Quintal.:</a:t>
            </a:r>
            <a:r>
              <a:rPr lang="en-IN" sz="1800" b="0" kern="0" dirty="0">
                <a:effectLst/>
                <a:latin typeface="Times New Roman" panose="02020603050405020304" pitchFamily="18" charset="0"/>
                <a:ea typeface="Calibri" panose="020F0502020204030204" pitchFamily="34" charset="0"/>
              </a:rPr>
              <a:t> The maximum price of onions recorded in Rs./Quintal.</a:t>
            </a:r>
            <a:endParaRPr lang="en-IN" sz="1800" b="1" kern="0" dirty="0">
              <a:effectLst/>
              <a:latin typeface="Calibri" panose="020F0502020204030204" pitchFamily="34" charset="0"/>
              <a:ea typeface="Calibri" panose="020F0502020204030204" pitchFamily="34" charset="0"/>
            </a:endParaRPr>
          </a:p>
          <a:p>
            <a:pPr marL="88900"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Modal.Price..Rs..Quintal.:</a:t>
            </a:r>
            <a:r>
              <a:rPr lang="en-IN" sz="1800" b="0" kern="0" dirty="0">
                <a:effectLst/>
                <a:latin typeface="Times New Roman" panose="02020603050405020304" pitchFamily="18" charset="0"/>
                <a:ea typeface="Calibri" panose="020F0502020204030204" pitchFamily="34" charset="0"/>
              </a:rPr>
              <a:t> The most common (modal) price of onions in Rs./Quintal.</a:t>
            </a:r>
            <a:endParaRPr lang="en-IN" sz="1800" b="1" kern="0" dirty="0">
              <a:effectLst/>
              <a:latin typeface="Calibri" panose="020F0502020204030204" pitchFamily="34" charset="0"/>
              <a:ea typeface="Calibri" panose="020F0502020204030204" pitchFamily="34" charset="0"/>
            </a:endParaRPr>
          </a:p>
          <a:p>
            <a:pPr marL="88900"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r>
              <a:rPr lang="en-IN" sz="1800" b="1" kern="0" dirty="0">
                <a:effectLst/>
                <a:latin typeface="Times New Roman" panose="02020603050405020304" pitchFamily="18" charset="0"/>
                <a:ea typeface="Calibri" panose="020F0502020204030204" pitchFamily="34" charset="0"/>
              </a:rPr>
              <a:t>    Reported.Date:</a:t>
            </a:r>
            <a:r>
              <a:rPr lang="en-IN" sz="1800" b="0" kern="0" dirty="0">
                <a:effectLst/>
                <a:latin typeface="Times New Roman" panose="02020603050405020304" pitchFamily="18" charset="0"/>
                <a:ea typeface="Calibri" panose="020F0502020204030204" pitchFamily="34" charset="0"/>
              </a:rPr>
              <a:t> The date on which the prices and quantities were reported.</a:t>
            </a:r>
          </a:p>
          <a:p>
            <a:pPr marL="0" lvl="0" indent="0">
              <a:spcBef>
                <a:spcPts val="85"/>
              </a:spcBef>
              <a:buNone/>
              <a:tabLst>
                <a:tab pos="382905" algn="l"/>
                <a:tab pos="457200" algn="l"/>
              </a:tabLst>
            </a:pPr>
            <a:endParaRPr lang="en-IN" b="1" kern="0" dirty="0">
              <a:latin typeface="Calibri" panose="020F0502020204030204" pitchFamily="34" charset="0"/>
              <a:ea typeface="Calibri" panose="020F0502020204030204" pitchFamily="34" charset="0"/>
            </a:endParaRPr>
          </a:p>
          <a:p>
            <a:pPr marL="0" lvl="0" indent="0">
              <a:spcBef>
                <a:spcPts val="85"/>
              </a:spcBef>
              <a:buNone/>
              <a:tabLst>
                <a:tab pos="382905" algn="l"/>
                <a:tab pos="457200" algn="l"/>
              </a:tabLst>
            </a:pPr>
            <a:endParaRPr lang="en-IN" sz="1800" b="1" kern="0" dirty="0">
              <a:effectLst/>
              <a:latin typeface="Calibri" panose="020F0502020204030204" pitchFamily="34" charset="0"/>
              <a:ea typeface="Calibri" panose="020F0502020204030204" pitchFamily="34" charset="0"/>
            </a:endParaRPr>
          </a:p>
          <a:p>
            <a:pPr marL="14605" indent="0">
              <a:spcBef>
                <a:spcPts val="85"/>
              </a:spcBef>
              <a:buNone/>
              <a:tabLst>
                <a:tab pos="382905" algn="l"/>
              </a:tabLst>
            </a:pPr>
            <a:r>
              <a:rPr lang="en-IN" sz="1800" b="0" kern="0" dirty="0">
                <a:effectLst/>
                <a:latin typeface="Times New Roman" panose="02020603050405020304" pitchFamily="18" charset="0"/>
                <a:ea typeface="Calibri" panose="020F0502020204030204" pitchFamily="34" charset="0"/>
              </a:rPr>
              <a:t> </a:t>
            </a:r>
            <a:endParaRPr lang="en-IN" sz="1800" b="1" kern="0" dirty="0">
              <a:effectLst/>
              <a:latin typeface="Calibri" panose="020F0502020204030204" pitchFamily="34" charset="0"/>
              <a:ea typeface="Calibri" panose="020F0502020204030204" pitchFamily="34" charset="0"/>
            </a:endParaRPr>
          </a:p>
          <a:p>
            <a:pPr marL="382905" indent="-368300">
              <a:spcBef>
                <a:spcPts val="85"/>
              </a:spcBef>
              <a:tabLst>
                <a:tab pos="382905" algn="l"/>
              </a:tabLst>
            </a:pPr>
            <a:endParaRPr lang="en-IN" sz="1800" b="1" kern="0" dirty="0">
              <a:effectLst/>
              <a:latin typeface="Calibri" panose="020F0502020204030204" pitchFamily="34" charset="0"/>
              <a:ea typeface="Calibri" panose="020F0502020204030204" pitchFamily="34" charset="0"/>
            </a:endParaRPr>
          </a:p>
          <a:p>
            <a:endParaRPr lang="en-IN" dirty="0"/>
          </a:p>
        </p:txBody>
      </p:sp>
      <p:sp>
        <p:nvSpPr>
          <p:cNvPr id="4" name="Slide Number Placeholder 3">
            <a:extLst>
              <a:ext uri="{FF2B5EF4-FFF2-40B4-BE49-F238E27FC236}">
                <a16:creationId xmlns:a16="http://schemas.microsoft.com/office/drawing/2014/main" id="{38F649D5-DC84-154E-3733-CDF0D489FF59}"/>
              </a:ext>
            </a:extLst>
          </p:cNvPr>
          <p:cNvSpPr>
            <a:spLocks noGrp="1"/>
          </p:cNvSpPr>
          <p:nvPr>
            <p:ph type="sldNum" sz="quarter" idx="12"/>
          </p:nvPr>
        </p:nvSpPr>
        <p:spPr/>
        <p:txBody>
          <a:bodyPr/>
          <a:lstStyle/>
          <a:p>
            <a:fld id="{0D3E3056-22A3-4E2C-9164-3EEDF19BB457}" type="slidenum">
              <a:rPr lang="en-IN" smtClean="0"/>
              <a:t>5</a:t>
            </a:fld>
            <a:endParaRPr lang="en-IN" dirty="0"/>
          </a:p>
        </p:txBody>
      </p:sp>
    </p:spTree>
    <p:extLst>
      <p:ext uri="{BB962C8B-B14F-4D97-AF65-F5344CB8AC3E}">
        <p14:creationId xmlns:p14="http://schemas.microsoft.com/office/powerpoint/2010/main" val="3463991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54BE-10CD-CF19-2240-A0A3FB64C556}"/>
              </a:ext>
            </a:extLst>
          </p:cNvPr>
          <p:cNvSpPr>
            <a:spLocks noGrp="1"/>
          </p:cNvSpPr>
          <p:nvPr>
            <p:ph type="ctrTitle"/>
          </p:nvPr>
        </p:nvSpPr>
        <p:spPr>
          <a:xfrm>
            <a:off x="1524000" y="1122363"/>
            <a:ext cx="9144000" cy="840661"/>
          </a:xfrm>
        </p:spPr>
        <p:txBody>
          <a:bodyPr>
            <a:normAutofit fontScale="90000"/>
          </a:bodyPr>
          <a:lstStyle/>
          <a:p>
            <a:r>
              <a:rPr lang="en-IN" b="1" dirty="0">
                <a:solidFill>
                  <a:srgbClr val="C00000"/>
                </a:solidFill>
              </a:rPr>
              <a:t>Literature</a:t>
            </a:r>
            <a:r>
              <a:rPr lang="en-IN" dirty="0">
                <a:solidFill>
                  <a:srgbClr val="C00000"/>
                </a:solidFill>
              </a:rPr>
              <a:t> </a:t>
            </a:r>
            <a:r>
              <a:rPr lang="en-IN" b="1" dirty="0">
                <a:solidFill>
                  <a:srgbClr val="C00000"/>
                </a:solidFill>
              </a:rPr>
              <a:t>Review</a:t>
            </a:r>
            <a:br>
              <a:rPr lang="en-IN" dirty="0"/>
            </a:br>
            <a:endParaRPr lang="en-IN" dirty="0"/>
          </a:p>
        </p:txBody>
      </p:sp>
      <p:sp>
        <p:nvSpPr>
          <p:cNvPr id="3" name="Subtitle 2">
            <a:extLst>
              <a:ext uri="{FF2B5EF4-FFF2-40B4-BE49-F238E27FC236}">
                <a16:creationId xmlns:a16="http://schemas.microsoft.com/office/drawing/2014/main" id="{F4C2AD24-AB77-A4E4-D3D5-825B09E5F0E1}"/>
              </a:ext>
            </a:extLst>
          </p:cNvPr>
          <p:cNvSpPr>
            <a:spLocks noGrp="1"/>
          </p:cNvSpPr>
          <p:nvPr>
            <p:ph type="subTitle" idx="1"/>
          </p:nvPr>
        </p:nvSpPr>
        <p:spPr>
          <a:xfrm>
            <a:off x="1203767" y="1275127"/>
            <a:ext cx="9959533" cy="5239973"/>
          </a:xfrm>
        </p:spPr>
        <p:txBody>
          <a:bodyPr>
            <a:normAutofit/>
          </a:bodyPr>
          <a:lstStyle/>
          <a:p>
            <a:r>
              <a:rPr lang="en-US" b="1" dirty="0"/>
              <a:t>1)</a:t>
            </a:r>
            <a:r>
              <a:rPr lang="en-US" sz="1800" b="1" kern="0" spc="-10" dirty="0">
                <a:effectLst/>
                <a:latin typeface="Times New Roman" panose="02020603050405020304" pitchFamily="18" charset="0"/>
                <a:ea typeface="Calibri" panose="020F0502020204030204" pitchFamily="34" charset="0"/>
              </a:rPr>
              <a:t> </a:t>
            </a:r>
            <a:r>
              <a:rPr lang="en-US" sz="2000" b="1" kern="0" spc="-10" dirty="0">
                <a:effectLst/>
                <a:latin typeface="Times New Roman" panose="02020603050405020304" pitchFamily="18" charset="0"/>
                <a:ea typeface="Calibri" panose="020F0502020204030204" pitchFamily="34" charset="0"/>
              </a:rPr>
              <a:t>1.</a:t>
            </a:r>
            <a:r>
              <a:rPr lang="en-IN" sz="2000" b="1" kern="0" spc="-10" dirty="0">
                <a:effectLst/>
                <a:latin typeface="Times New Roman" panose="02020603050405020304" pitchFamily="18" charset="0"/>
                <a:ea typeface="Calibri" panose="020F0502020204030204" pitchFamily="34" charset="0"/>
              </a:rPr>
              <a:t>Seasonal ARIMA to forecast fruits and vegetable agricultural prices</a:t>
            </a:r>
            <a:endParaRPr lang="en-IN" sz="2000" b="1" kern="0" dirty="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r>
              <a:rPr lang="en-US" b="1" dirty="0"/>
              <a:t> The paper focuses on applying Seasonal ARIMA (SARIMA) models to forecast        agricultural prices of fruits and vegetables. </a:t>
            </a:r>
          </a:p>
          <a:p>
            <a:pPr marL="285750" indent="-285750">
              <a:buFont typeface="Arial" panose="020B0604020202020204" pitchFamily="34" charset="0"/>
              <a:buChar char="•"/>
            </a:pPr>
            <a:r>
              <a:rPr lang="en-US" b="1" dirty="0"/>
              <a:t>Seasonal and non-seasonal price variations pose significant challenges for stakeholders, such as farmers, traders, and policymakers.</a:t>
            </a:r>
          </a:p>
          <a:p>
            <a:pPr marL="285750" indent="-285750">
              <a:buFont typeface="Arial" panose="020B0604020202020204" pitchFamily="34" charset="0"/>
              <a:buChar char="•"/>
            </a:pPr>
            <a:r>
              <a:rPr lang="en-US" b="1" dirty="0"/>
              <a:t>SARIMA models are effective in capturing the seasonality inherent in agricultural price data, leading to improved accuracy in predictions</a:t>
            </a:r>
          </a:p>
          <a:p>
            <a:pPr marL="285750" indent="-285750">
              <a:buFont typeface="Arial" panose="020B0604020202020204" pitchFamily="34" charset="0"/>
              <a:buChar char="•"/>
            </a:pPr>
            <a:r>
              <a:rPr lang="en-US" b="1" dirty="0"/>
              <a:t>The study demonstrates SARIMA's capability to provide reliable forecasts for agricultural prices.</a:t>
            </a:r>
          </a:p>
          <a:p>
            <a:endParaRPr lang="en-US" b="1" dirty="0"/>
          </a:p>
          <a:p>
            <a:pPr marL="342900" indent="-342900" algn="l">
              <a:buFont typeface="Arial" panose="020B0604020202020204" pitchFamily="34" charset="0"/>
              <a:buChar char="•"/>
            </a:pPr>
            <a:endParaRPr lang="en-IN" b="1" dirty="0"/>
          </a:p>
          <a:p>
            <a:endParaRPr lang="en-IN" b="1" dirty="0"/>
          </a:p>
        </p:txBody>
      </p:sp>
      <p:sp>
        <p:nvSpPr>
          <p:cNvPr id="4" name="Slide Number Placeholder 3">
            <a:extLst>
              <a:ext uri="{FF2B5EF4-FFF2-40B4-BE49-F238E27FC236}">
                <a16:creationId xmlns:a16="http://schemas.microsoft.com/office/drawing/2014/main" id="{7F26E6E7-927F-F5BD-DB73-7602377EAFA8}"/>
              </a:ext>
            </a:extLst>
          </p:cNvPr>
          <p:cNvSpPr>
            <a:spLocks noGrp="1"/>
          </p:cNvSpPr>
          <p:nvPr>
            <p:ph type="sldNum" sz="quarter" idx="12"/>
          </p:nvPr>
        </p:nvSpPr>
        <p:spPr/>
        <p:txBody>
          <a:bodyPr/>
          <a:lstStyle/>
          <a:p>
            <a:fld id="{0D3E3056-22A3-4E2C-9164-3EEDF19BB457}" type="slidenum">
              <a:rPr lang="en-IN" smtClean="0"/>
              <a:t>6</a:t>
            </a:fld>
            <a:endParaRPr lang="en-IN" dirty="0"/>
          </a:p>
        </p:txBody>
      </p:sp>
    </p:spTree>
    <p:extLst>
      <p:ext uri="{BB962C8B-B14F-4D97-AF65-F5344CB8AC3E}">
        <p14:creationId xmlns:p14="http://schemas.microsoft.com/office/powerpoint/2010/main" val="2380110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B0B6F5-76DF-1243-CA44-08C3FF4F5E00}"/>
              </a:ext>
            </a:extLst>
          </p:cNvPr>
          <p:cNvSpPr txBox="1"/>
          <p:nvPr/>
        </p:nvSpPr>
        <p:spPr>
          <a:xfrm>
            <a:off x="1975412" y="184329"/>
            <a:ext cx="8241175" cy="646331"/>
          </a:xfrm>
          <a:prstGeom prst="rect">
            <a:avLst/>
          </a:prstGeom>
          <a:noFill/>
        </p:spPr>
        <p:txBody>
          <a:bodyPr wrap="square" rtlCol="0">
            <a:spAutoFit/>
          </a:bodyPr>
          <a:lstStyle/>
          <a:p>
            <a:pPr algn="ctr"/>
            <a:r>
              <a:rPr lang="en-IN" sz="3600" b="1" dirty="0"/>
              <a:t>Exploratory Data Analysis</a:t>
            </a:r>
          </a:p>
        </p:txBody>
      </p:sp>
      <p:sp>
        <p:nvSpPr>
          <p:cNvPr id="2" name="Slide Number Placeholder 1">
            <a:extLst>
              <a:ext uri="{FF2B5EF4-FFF2-40B4-BE49-F238E27FC236}">
                <a16:creationId xmlns:a16="http://schemas.microsoft.com/office/drawing/2014/main" id="{8026E7AC-2956-CD24-07B4-3F37402B8B62}"/>
              </a:ext>
            </a:extLst>
          </p:cNvPr>
          <p:cNvSpPr>
            <a:spLocks noGrp="1"/>
          </p:cNvSpPr>
          <p:nvPr>
            <p:ph type="sldNum" sz="quarter" idx="12"/>
          </p:nvPr>
        </p:nvSpPr>
        <p:spPr/>
        <p:txBody>
          <a:bodyPr/>
          <a:lstStyle/>
          <a:p>
            <a:fld id="{0D3E3056-22A3-4E2C-9164-3EEDF19BB457}" type="slidenum">
              <a:rPr lang="en-IN" smtClean="0"/>
              <a:t>7</a:t>
            </a:fld>
            <a:endParaRPr lang="en-IN" dirty="0"/>
          </a:p>
        </p:txBody>
      </p:sp>
      <p:sp>
        <p:nvSpPr>
          <p:cNvPr id="5" name="TextBox 4">
            <a:extLst>
              <a:ext uri="{FF2B5EF4-FFF2-40B4-BE49-F238E27FC236}">
                <a16:creationId xmlns:a16="http://schemas.microsoft.com/office/drawing/2014/main" id="{1E0327A5-0638-F649-710A-E1FF5BE1A8BE}"/>
              </a:ext>
            </a:extLst>
          </p:cNvPr>
          <p:cNvSpPr txBox="1"/>
          <p:nvPr/>
        </p:nvSpPr>
        <p:spPr>
          <a:xfrm>
            <a:off x="3046095" y="3244334"/>
            <a:ext cx="6052185" cy="646331"/>
          </a:xfrm>
          <a:prstGeom prst="rect">
            <a:avLst/>
          </a:prstGeom>
          <a:noFill/>
        </p:spPr>
        <p:txBody>
          <a:bodyPr wrap="square">
            <a:spAutoFit/>
          </a:bodyPr>
          <a:lstStyle/>
          <a:p>
            <a:r>
              <a:rPr lang="en-IN"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rPr>
              <a:t>Visualization of </a:t>
            </a:r>
            <a:r>
              <a:rPr lang="en-IN"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rPr>
              <a:t> Data</a:t>
            </a:r>
          </a:p>
          <a:p>
            <a:r>
              <a:rPr lang="en-IN" sz="1800" dirty="0">
                <a:effectLst/>
                <a:latin typeface="Times New Roman" panose="02020603050405020304" pitchFamily="18" charset="0"/>
                <a:ea typeface="Calibri" panose="020F0502020204030204" pitchFamily="34" charset="0"/>
              </a:rPr>
              <a:t> </a:t>
            </a:r>
            <a:endParaRPr lang="en-IN" dirty="0"/>
          </a:p>
        </p:txBody>
      </p:sp>
      <p:pic>
        <p:nvPicPr>
          <p:cNvPr id="8" name="Picture 7">
            <a:extLst>
              <a:ext uri="{FF2B5EF4-FFF2-40B4-BE49-F238E27FC236}">
                <a16:creationId xmlns:a16="http://schemas.microsoft.com/office/drawing/2014/main" id="{AE0B0280-ED09-9480-370B-1401BFF86243}"/>
              </a:ext>
            </a:extLst>
          </p:cNvPr>
          <p:cNvPicPr>
            <a:picLocks noChangeAspect="1"/>
          </p:cNvPicPr>
          <p:nvPr/>
        </p:nvPicPr>
        <p:blipFill>
          <a:blip r:embed="rId2"/>
          <a:stretch>
            <a:fillRect/>
          </a:stretch>
        </p:blipFill>
        <p:spPr>
          <a:xfrm>
            <a:off x="1709170" y="1721719"/>
            <a:ext cx="8966570" cy="4951952"/>
          </a:xfrm>
          <a:prstGeom prst="rect">
            <a:avLst/>
          </a:prstGeom>
        </p:spPr>
      </p:pic>
      <p:sp>
        <p:nvSpPr>
          <p:cNvPr id="7" name="TextBox 6">
            <a:extLst>
              <a:ext uri="{FF2B5EF4-FFF2-40B4-BE49-F238E27FC236}">
                <a16:creationId xmlns:a16="http://schemas.microsoft.com/office/drawing/2014/main" id="{2D47E5C4-40D6-8299-736D-C5E84C38F268}"/>
              </a:ext>
            </a:extLst>
          </p:cNvPr>
          <p:cNvSpPr txBox="1"/>
          <p:nvPr/>
        </p:nvSpPr>
        <p:spPr>
          <a:xfrm>
            <a:off x="1709170" y="1157541"/>
            <a:ext cx="7125911" cy="646331"/>
          </a:xfrm>
          <a:prstGeom prst="rect">
            <a:avLst/>
          </a:prstGeom>
          <a:noFill/>
        </p:spPr>
        <p:txBody>
          <a:bodyPr wrap="square" rtlCol="0">
            <a:spAutoFit/>
          </a:bodyPr>
          <a:lstStyle/>
          <a:p>
            <a:r>
              <a:rPr lang="en-IN" sz="1800" b="1" dirty="0"/>
              <a:t>Source Of Data:- </a:t>
            </a:r>
            <a:r>
              <a:rPr lang="en-IN" sz="1800" b="1" dirty="0">
                <a:solidFill>
                  <a:srgbClr val="FF0000"/>
                </a:solidFill>
              </a:rPr>
              <a:t>https://agmarket.gov.in</a:t>
            </a:r>
          </a:p>
          <a:p>
            <a:endParaRPr lang="en-IN" dirty="0"/>
          </a:p>
        </p:txBody>
      </p:sp>
    </p:spTree>
    <p:extLst>
      <p:ext uri="{BB962C8B-B14F-4D97-AF65-F5344CB8AC3E}">
        <p14:creationId xmlns:p14="http://schemas.microsoft.com/office/powerpoint/2010/main" val="3188145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9EB1B10-E4A6-E69E-D912-E982D2F5BEFC}"/>
              </a:ext>
            </a:extLst>
          </p:cNvPr>
          <p:cNvSpPr>
            <a:spLocks noGrp="1"/>
          </p:cNvSpPr>
          <p:nvPr>
            <p:ph type="sldNum" sz="quarter" idx="12"/>
          </p:nvPr>
        </p:nvSpPr>
        <p:spPr/>
        <p:txBody>
          <a:bodyPr/>
          <a:lstStyle/>
          <a:p>
            <a:fld id="{0D3E3056-22A3-4E2C-9164-3EEDF19BB457}" type="slidenum">
              <a:rPr lang="en-IN" smtClean="0"/>
              <a:t>8</a:t>
            </a:fld>
            <a:endParaRPr lang="en-IN" dirty="0"/>
          </a:p>
        </p:txBody>
      </p:sp>
      <p:sp>
        <p:nvSpPr>
          <p:cNvPr id="5" name="TextBox 4">
            <a:extLst>
              <a:ext uri="{FF2B5EF4-FFF2-40B4-BE49-F238E27FC236}">
                <a16:creationId xmlns:a16="http://schemas.microsoft.com/office/drawing/2014/main" id="{DE131CFB-8B97-E40E-E2D0-AA86573BC590}"/>
              </a:ext>
            </a:extLst>
          </p:cNvPr>
          <p:cNvSpPr txBox="1"/>
          <p:nvPr/>
        </p:nvSpPr>
        <p:spPr>
          <a:xfrm>
            <a:off x="3472249" y="623364"/>
            <a:ext cx="4992130" cy="646331"/>
          </a:xfrm>
          <a:prstGeom prst="rect">
            <a:avLst/>
          </a:prstGeom>
          <a:noFill/>
        </p:spPr>
        <p:txBody>
          <a:bodyPr wrap="square" rtlCol="0">
            <a:spAutoFit/>
          </a:bodyPr>
          <a:lstStyle/>
          <a:p>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BoxPlot of Numerical Variables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7FDC4F43-4780-263E-634A-4926F229A2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3189" y="1799238"/>
            <a:ext cx="4287796" cy="2534637"/>
          </a:xfrm>
          <a:prstGeom prst="rect">
            <a:avLst/>
          </a:prstGeom>
          <a:solidFill>
            <a:schemeClr val="tx1">
              <a:alpha val="99000"/>
            </a:schemeClr>
          </a:solidFill>
          <a:ln>
            <a:solidFill>
              <a:schemeClr val="tx1"/>
            </a:solidFill>
          </a:ln>
        </p:spPr>
      </p:pic>
      <p:pic>
        <p:nvPicPr>
          <p:cNvPr id="9" name="Picture 8">
            <a:extLst>
              <a:ext uri="{FF2B5EF4-FFF2-40B4-BE49-F238E27FC236}">
                <a16:creationId xmlns:a16="http://schemas.microsoft.com/office/drawing/2014/main" id="{E91A0A78-84B6-6D2F-3A6D-5AD1FFB6D3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37987" y="1799238"/>
            <a:ext cx="5731510" cy="2534637"/>
          </a:xfrm>
          <a:prstGeom prst="rect">
            <a:avLst/>
          </a:prstGeom>
          <a:noFill/>
          <a:ln>
            <a:solidFill>
              <a:schemeClr val="tx1"/>
            </a:solidFill>
          </a:ln>
        </p:spPr>
      </p:pic>
      <p:sp>
        <p:nvSpPr>
          <p:cNvPr id="10" name="TextBox 9">
            <a:extLst>
              <a:ext uri="{FF2B5EF4-FFF2-40B4-BE49-F238E27FC236}">
                <a16:creationId xmlns:a16="http://schemas.microsoft.com/office/drawing/2014/main" id="{70174772-D9DD-D28B-EB9D-25313344AF9F}"/>
              </a:ext>
            </a:extLst>
          </p:cNvPr>
          <p:cNvSpPr txBox="1"/>
          <p:nvPr/>
        </p:nvSpPr>
        <p:spPr>
          <a:xfrm>
            <a:off x="1613748" y="1165134"/>
            <a:ext cx="2995322" cy="369332"/>
          </a:xfrm>
          <a:prstGeom prst="rect">
            <a:avLst/>
          </a:prstGeom>
          <a:noFill/>
        </p:spPr>
        <p:txBody>
          <a:bodyPr wrap="square" rtlCol="0">
            <a:spAutoFit/>
          </a:bodyPr>
          <a:lstStyle/>
          <a:p>
            <a:r>
              <a:rPr lang="en-IN" dirty="0"/>
              <a:t>1.Boxplot of Modal Price</a:t>
            </a:r>
          </a:p>
        </p:txBody>
      </p:sp>
      <p:sp>
        <p:nvSpPr>
          <p:cNvPr id="11" name="TextBox 10">
            <a:extLst>
              <a:ext uri="{FF2B5EF4-FFF2-40B4-BE49-F238E27FC236}">
                <a16:creationId xmlns:a16="http://schemas.microsoft.com/office/drawing/2014/main" id="{18F065C3-A46A-C492-8504-D404274AC1DB}"/>
              </a:ext>
            </a:extLst>
          </p:cNvPr>
          <p:cNvSpPr txBox="1"/>
          <p:nvPr/>
        </p:nvSpPr>
        <p:spPr>
          <a:xfrm>
            <a:off x="803189" y="4598648"/>
            <a:ext cx="10453816" cy="2554545"/>
          </a:xfrm>
          <a:prstGeom prst="rect">
            <a:avLst/>
          </a:prstGeom>
          <a:noFill/>
        </p:spPr>
        <p:txBody>
          <a:bodyPr wrap="square" rtlCol="0">
            <a:spAutoFit/>
          </a:bodyPr>
          <a:lstStyle/>
          <a:p>
            <a:r>
              <a:rPr lang="en-IN" sz="1600" b="1" dirty="0">
                <a:effectLst/>
                <a:ea typeface="Calibri" panose="020F0502020204030204" pitchFamily="34" charset="0"/>
              </a:rPr>
              <a:t>1.Most modal prices are concentrated below 2,000 Rs/Quintal, as shown by the narrow box and short whiskers. However, some extreme outliers exceed 60,000 Rs/Quintal, creating a highly skewed distribution. </a:t>
            </a:r>
          </a:p>
          <a:p>
            <a:pPr algn="just"/>
            <a:r>
              <a:rPr lang="en-IN" sz="1600" b="1" kern="100" dirty="0">
                <a:effectLst/>
                <a:ea typeface="Calibri" panose="020F0502020204030204" pitchFamily="34" charset="0"/>
                <a:cs typeface="Times New Roman" panose="02020603050405020304" pitchFamily="18" charset="0"/>
              </a:rPr>
              <a:t>The modal prices for onions are mostly concentrated between 1,000 and 2,000 Rs/Quintal.</a:t>
            </a:r>
          </a:p>
          <a:p>
            <a:pPr algn="just"/>
            <a:r>
              <a:rPr lang="en-IN" sz="1600" b="1" kern="100" dirty="0">
                <a:effectLst/>
                <a:ea typeface="Calibri" panose="020F0502020204030204" pitchFamily="34" charset="0"/>
                <a:cs typeface="Times New Roman" panose="02020603050405020304" pitchFamily="18" charset="0"/>
              </a:rPr>
              <a:t>2.A few exceptionally high values (above 3,000 Rs/Quintal) are present as outliers.</a:t>
            </a:r>
          </a:p>
          <a:p>
            <a:pPr algn="just"/>
            <a:r>
              <a:rPr lang="en-IN" sz="1600" b="1" kern="100" dirty="0">
                <a:effectLst/>
                <a:ea typeface="Calibri" panose="020F0502020204030204" pitchFamily="34" charset="0"/>
                <a:cs typeface="Times New Roman" panose="02020603050405020304" pitchFamily="18" charset="0"/>
              </a:rPr>
              <a:t>The distribution shows a mild right skew, indicating that while most prices are within the normal range, some markets report significantly higher modal prices.</a:t>
            </a:r>
          </a:p>
          <a:p>
            <a:pPr algn="just"/>
            <a:endParaRPr lang="en-IN" sz="1600" b="1" kern="100" dirty="0">
              <a:effectLst/>
              <a:ea typeface="Calibri" panose="020F0502020204030204" pitchFamily="34" charset="0"/>
              <a:cs typeface="Times New Roman" panose="02020603050405020304" pitchFamily="18" charset="0"/>
            </a:endParaRPr>
          </a:p>
          <a:p>
            <a:endParaRPr lang="en-IN" sz="1400" dirty="0">
              <a:effectLst/>
              <a:ea typeface="Calibri" panose="020F0502020204030204" pitchFamily="34" charset="0"/>
            </a:endParaRPr>
          </a:p>
          <a:p>
            <a:endParaRPr lang="en-IN" dirty="0"/>
          </a:p>
        </p:txBody>
      </p:sp>
    </p:spTree>
    <p:extLst>
      <p:ext uri="{BB962C8B-B14F-4D97-AF65-F5344CB8AC3E}">
        <p14:creationId xmlns:p14="http://schemas.microsoft.com/office/powerpoint/2010/main" val="124386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D6AEF9-63BB-AA71-BF1D-6C9847A9D524}"/>
              </a:ext>
            </a:extLst>
          </p:cNvPr>
          <p:cNvSpPr txBox="1"/>
          <p:nvPr/>
        </p:nvSpPr>
        <p:spPr>
          <a:xfrm>
            <a:off x="1761584" y="744070"/>
            <a:ext cx="4219066" cy="375552"/>
          </a:xfrm>
          <a:prstGeom prst="rect">
            <a:avLst/>
          </a:prstGeom>
          <a:noFill/>
        </p:spPr>
        <p:txBody>
          <a:bodyPr wrap="square">
            <a:spAutoFit/>
          </a:bodyPr>
          <a:lstStyle/>
          <a:p>
            <a:pPr>
              <a:lnSpc>
                <a:spcPct val="107000"/>
              </a:lnSpc>
              <a:spcAft>
                <a:spcPts val="800"/>
              </a:spcAft>
            </a:pPr>
            <a:r>
              <a:rPr lang="en-IN" u="sng" dirty="0">
                <a:ea typeface="Calibri" panose="020F0502020204030204" pitchFamily="34" charset="0"/>
                <a:cs typeface="Calibri" panose="020F0502020204030204" pitchFamily="34" charset="0"/>
              </a:rPr>
              <a:t>2.Boxplot for Minimum Prices</a:t>
            </a:r>
            <a:endParaRPr lang="en-IN" sz="1800" dirty="0">
              <a:effectLst/>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ABFB408-CBD8-48BB-7B60-B85B546D2C40}"/>
              </a:ext>
            </a:extLst>
          </p:cNvPr>
          <p:cNvSpPr txBox="1"/>
          <p:nvPr/>
        </p:nvSpPr>
        <p:spPr>
          <a:xfrm>
            <a:off x="1311578" y="4134983"/>
            <a:ext cx="10081351" cy="3077766"/>
          </a:xfrm>
          <a:prstGeom prst="rect">
            <a:avLst/>
          </a:prstGeom>
          <a:noFill/>
        </p:spPr>
        <p:txBody>
          <a:bodyPr wrap="square">
            <a:spAutoFit/>
          </a:bodyPr>
          <a:lstStyle/>
          <a:p>
            <a:r>
              <a:rPr lang="en-IN" sz="1400" kern="100" dirty="0">
                <a:effectLst/>
                <a:ea typeface="Calibri" panose="020F0502020204030204" pitchFamily="34" charset="0"/>
                <a:cs typeface="Times New Roman" panose="02020603050405020304" pitchFamily="18" charset="0"/>
              </a:rPr>
              <a:t>1.The majority of prices are concentrated below approximately 2,500 Rs/Quintal (indicated by the box), with a median around 1,000 Rs/Quintal. Several outliers are present, indicating a few instances with significantly higher minimum prices, reaching up to 25,000 Rs/Quintal.</a:t>
            </a:r>
          </a:p>
          <a:p>
            <a:pPr marL="285750" indent="-285750">
              <a:buFont typeface="Arial" panose="020B0604020202020204" pitchFamily="34" charset="0"/>
              <a:buChar char="•"/>
            </a:pPr>
            <a:r>
              <a:rPr lang="en-IN" sz="1400" b="1" kern="100" dirty="0">
                <a:effectLst/>
                <a:ea typeface="Calibri" panose="020F0502020204030204" pitchFamily="34" charset="0"/>
                <a:cs typeface="Times New Roman" panose="02020603050405020304" pitchFamily="18" charset="0"/>
              </a:rPr>
              <a:t>Minimum price of onion is 100 Rs/quintal Onion prices fluctuate due to factors like harvest seasons (Kharif: July-October, Rabi: October-March), festivals (Diwali, Holi), supply and demand, and government interventions. Lower prices can occur during harvest seasons, while festivals and seasonal demand can increase prices.</a:t>
            </a:r>
          </a:p>
          <a:p>
            <a:r>
              <a:rPr lang="en-IN" sz="1400" kern="100" dirty="0">
                <a:effectLst/>
                <a:ea typeface="Calibri" panose="020F0502020204030204" pitchFamily="34" charset="0"/>
                <a:cs typeface="Times New Roman" panose="02020603050405020304" pitchFamily="18" charset="0"/>
              </a:rPr>
              <a:t>2. The boxplot displays the distribution of minimum prices (Rs/Quintal) after outliers have been removed. The prices are primarily concentrated within a range from approximately 250 to 900 Rs/Quintal (indicated by the blue box), with a median around 500 Rs/Quintal. The whiskers extend to roughly 0 and 2100 with no outliers present beyond these values.</a:t>
            </a:r>
          </a:p>
          <a:p>
            <a:endParaRPr lang="en-IN" sz="1800" kern="100" dirty="0">
              <a:effectLst/>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b="1" dirty="0"/>
          </a:p>
        </p:txBody>
      </p:sp>
      <p:sp>
        <p:nvSpPr>
          <p:cNvPr id="3" name="Slide Number Placeholder 2">
            <a:extLst>
              <a:ext uri="{FF2B5EF4-FFF2-40B4-BE49-F238E27FC236}">
                <a16:creationId xmlns:a16="http://schemas.microsoft.com/office/drawing/2014/main" id="{AE3B53B0-499F-CFE8-E45C-83E1BC43751E}"/>
              </a:ext>
            </a:extLst>
          </p:cNvPr>
          <p:cNvSpPr>
            <a:spLocks noGrp="1"/>
          </p:cNvSpPr>
          <p:nvPr>
            <p:ph type="sldNum" sz="quarter" idx="12"/>
          </p:nvPr>
        </p:nvSpPr>
        <p:spPr/>
        <p:txBody>
          <a:bodyPr/>
          <a:lstStyle/>
          <a:p>
            <a:fld id="{0D3E3056-22A3-4E2C-9164-3EEDF19BB457}" type="slidenum">
              <a:rPr lang="en-IN" smtClean="0"/>
              <a:t>9</a:t>
            </a:fld>
            <a:endParaRPr lang="en-IN" dirty="0"/>
          </a:p>
        </p:txBody>
      </p:sp>
      <p:pic>
        <p:nvPicPr>
          <p:cNvPr id="7" name="Picture 6">
            <a:extLst>
              <a:ext uri="{FF2B5EF4-FFF2-40B4-BE49-F238E27FC236}">
                <a16:creationId xmlns:a16="http://schemas.microsoft.com/office/drawing/2014/main" id="{84CBD7EF-DE43-E278-45EB-73FD5CFEE5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61536" y="1238449"/>
            <a:ext cx="4547286" cy="2744706"/>
          </a:xfrm>
          <a:prstGeom prst="rect">
            <a:avLst/>
          </a:prstGeom>
          <a:noFill/>
          <a:ln>
            <a:solidFill>
              <a:schemeClr val="tx1"/>
            </a:solidFill>
          </a:ln>
        </p:spPr>
      </p:pic>
      <p:pic>
        <p:nvPicPr>
          <p:cNvPr id="9" name="Picture 8">
            <a:extLst>
              <a:ext uri="{FF2B5EF4-FFF2-40B4-BE49-F238E27FC236}">
                <a16:creationId xmlns:a16="http://schemas.microsoft.com/office/drawing/2014/main" id="{1A536A7E-46FB-9642-395C-499EDD08E7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2708" y="1238449"/>
            <a:ext cx="4900028" cy="2744706"/>
          </a:xfrm>
          <a:prstGeom prst="rect">
            <a:avLst/>
          </a:prstGeom>
          <a:noFill/>
          <a:ln>
            <a:solidFill>
              <a:schemeClr val="tx1"/>
            </a:solidFill>
          </a:ln>
        </p:spPr>
      </p:pic>
    </p:spTree>
    <p:extLst>
      <p:ext uri="{BB962C8B-B14F-4D97-AF65-F5344CB8AC3E}">
        <p14:creationId xmlns:p14="http://schemas.microsoft.com/office/powerpoint/2010/main" val="823708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359BE1-2213-CD90-E960-AEB703CD7A0F}"/>
              </a:ext>
            </a:extLst>
          </p:cNvPr>
          <p:cNvSpPr>
            <a:spLocks noGrp="1"/>
          </p:cNvSpPr>
          <p:nvPr>
            <p:ph type="sldNum" sz="quarter" idx="12"/>
          </p:nvPr>
        </p:nvSpPr>
        <p:spPr/>
        <p:txBody>
          <a:bodyPr/>
          <a:lstStyle/>
          <a:p>
            <a:fld id="{0D3E3056-22A3-4E2C-9164-3EEDF19BB457}" type="slidenum">
              <a:rPr lang="en-IN" smtClean="0"/>
              <a:t>10</a:t>
            </a:fld>
            <a:endParaRPr lang="en-IN" dirty="0"/>
          </a:p>
        </p:txBody>
      </p:sp>
      <p:sp>
        <p:nvSpPr>
          <p:cNvPr id="3" name="TextBox 2">
            <a:extLst>
              <a:ext uri="{FF2B5EF4-FFF2-40B4-BE49-F238E27FC236}">
                <a16:creationId xmlns:a16="http://schemas.microsoft.com/office/drawing/2014/main" id="{55E4EAD6-2BE1-CECC-782B-451897AD7E93}"/>
              </a:ext>
            </a:extLst>
          </p:cNvPr>
          <p:cNvSpPr txBox="1"/>
          <p:nvPr/>
        </p:nvSpPr>
        <p:spPr>
          <a:xfrm>
            <a:off x="1878227" y="787782"/>
            <a:ext cx="3694670" cy="369332"/>
          </a:xfrm>
          <a:prstGeom prst="rect">
            <a:avLst/>
          </a:prstGeom>
          <a:noFill/>
        </p:spPr>
        <p:txBody>
          <a:bodyPr wrap="square" rtlCol="0">
            <a:spAutoFit/>
          </a:bodyPr>
          <a:lstStyle/>
          <a:p>
            <a:r>
              <a:rPr lang="en-IN" b="1" dirty="0"/>
              <a:t>3.Boxplot for Maximum Prices</a:t>
            </a:r>
          </a:p>
        </p:txBody>
      </p:sp>
      <p:pic>
        <p:nvPicPr>
          <p:cNvPr id="5" name="Picture 4">
            <a:extLst>
              <a:ext uri="{FF2B5EF4-FFF2-40B4-BE49-F238E27FC236}">
                <a16:creationId xmlns:a16="http://schemas.microsoft.com/office/drawing/2014/main" id="{31ADED6D-78D4-3DB1-7170-6038A4D57E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1812" y="1264619"/>
            <a:ext cx="4596242" cy="2451735"/>
          </a:xfrm>
          <a:prstGeom prst="rect">
            <a:avLst/>
          </a:prstGeom>
          <a:noFill/>
          <a:ln>
            <a:solidFill>
              <a:schemeClr val="tx1"/>
            </a:solidFill>
          </a:ln>
        </p:spPr>
      </p:pic>
      <p:pic>
        <p:nvPicPr>
          <p:cNvPr id="7" name="Picture 6">
            <a:extLst>
              <a:ext uri="{FF2B5EF4-FFF2-40B4-BE49-F238E27FC236}">
                <a16:creationId xmlns:a16="http://schemas.microsoft.com/office/drawing/2014/main" id="{3475CB09-4CAD-B9B7-B9A2-2350CC89AE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84445"/>
            <a:ext cx="5330212" cy="2531053"/>
          </a:xfrm>
          <a:prstGeom prst="rect">
            <a:avLst/>
          </a:prstGeom>
          <a:noFill/>
          <a:ln>
            <a:solidFill>
              <a:schemeClr val="tx1"/>
            </a:solidFill>
          </a:ln>
        </p:spPr>
      </p:pic>
      <p:sp>
        <p:nvSpPr>
          <p:cNvPr id="8" name="TextBox 7">
            <a:extLst>
              <a:ext uri="{FF2B5EF4-FFF2-40B4-BE49-F238E27FC236}">
                <a16:creationId xmlns:a16="http://schemas.microsoft.com/office/drawing/2014/main" id="{B7EB1FF2-62DA-7534-DB3C-A6B82B3A580B}"/>
              </a:ext>
            </a:extLst>
          </p:cNvPr>
          <p:cNvSpPr txBox="1"/>
          <p:nvPr/>
        </p:nvSpPr>
        <p:spPr>
          <a:xfrm>
            <a:off x="531812" y="4275438"/>
            <a:ext cx="10675766" cy="2462213"/>
          </a:xfrm>
          <a:prstGeom prst="rect">
            <a:avLst/>
          </a:prstGeom>
          <a:noFill/>
        </p:spPr>
        <p:txBody>
          <a:bodyPr wrap="square" rtlCol="0">
            <a:spAutoFit/>
          </a:bodyPr>
          <a:lstStyle/>
          <a:p>
            <a:r>
              <a:rPr lang="en-US" sz="1400" dirty="0">
                <a:cs typeface="Times New Roman" panose="02020603050405020304" pitchFamily="18" charset="0"/>
              </a:rPr>
              <a:t>1.The boxplot shows that the median maximum onion price is around 3000 Rs/Quintal, with the middle 50% of prices clustered within a narrow range. A few outliers indicate the presence of extreme price spikes. The distribution appears slightly skewed to the right, suggesting a few very high prices.</a:t>
            </a:r>
          </a:p>
          <a:p>
            <a:endParaRPr lang="en-US" sz="1400" dirty="0"/>
          </a:p>
          <a:p>
            <a:r>
              <a:rPr lang="en-US" sz="1400" b="1" dirty="0"/>
              <a:t>Onion prices can fluctuate due to factors like seasonal supply shortages, particularly during periods when fresh harvests are unavailable. Adverse weather conditions can damage crops, further reducing supply and driving up prices. Additionally, increased demand during festive seasons or social events can strain supply, contributing to higher prices.</a:t>
            </a:r>
            <a:endParaRPr lang="en-US" sz="1400" dirty="0"/>
          </a:p>
          <a:p>
            <a:endParaRPr lang="en-US" sz="1400" dirty="0">
              <a:cs typeface="Times New Roman" panose="02020603050405020304" pitchFamily="18" charset="0"/>
            </a:endParaRPr>
          </a:p>
          <a:p>
            <a:r>
              <a:rPr lang="en-US" sz="1400" dirty="0">
                <a:cs typeface="Times New Roman" panose="02020603050405020304" pitchFamily="18" charset="0"/>
              </a:rPr>
              <a:t>2. The boxplot, excluding outliers, reveals a median maximum price around 2000 Rs/Quintal. The middle 50% of prices are clustered within a narrow range, suggesting relatively consistent maximum prices when extreme values are removed. The distribution appears slightly skewed to the right, even without outliers.</a:t>
            </a:r>
            <a:endParaRPr lang="en-IN" sz="1400" dirty="0">
              <a:cs typeface="Times New Roman" panose="02020603050405020304" pitchFamily="18" charset="0"/>
            </a:endParaRPr>
          </a:p>
        </p:txBody>
      </p:sp>
    </p:spTree>
    <p:extLst>
      <p:ext uri="{BB962C8B-B14F-4D97-AF65-F5344CB8AC3E}">
        <p14:creationId xmlns:p14="http://schemas.microsoft.com/office/powerpoint/2010/main" val="2041102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4A602A-68DE-2576-ADFA-1F71D29B7E6B}"/>
              </a:ext>
            </a:extLst>
          </p:cNvPr>
          <p:cNvSpPr>
            <a:spLocks noGrp="1"/>
          </p:cNvSpPr>
          <p:nvPr>
            <p:ph type="sldNum" sz="quarter" idx="12"/>
          </p:nvPr>
        </p:nvSpPr>
        <p:spPr/>
        <p:txBody>
          <a:bodyPr/>
          <a:lstStyle/>
          <a:p>
            <a:fld id="{0D3E3056-22A3-4E2C-9164-3EEDF19BB457}" type="slidenum">
              <a:rPr lang="en-IN" smtClean="0"/>
              <a:t>11</a:t>
            </a:fld>
            <a:endParaRPr lang="en-IN" dirty="0"/>
          </a:p>
        </p:txBody>
      </p:sp>
      <p:sp>
        <p:nvSpPr>
          <p:cNvPr id="3" name="TextBox 2">
            <a:extLst>
              <a:ext uri="{FF2B5EF4-FFF2-40B4-BE49-F238E27FC236}">
                <a16:creationId xmlns:a16="http://schemas.microsoft.com/office/drawing/2014/main" id="{ECD31A2A-B6BE-B63E-61CB-1A42618ED7F1}"/>
              </a:ext>
            </a:extLst>
          </p:cNvPr>
          <p:cNvSpPr txBox="1"/>
          <p:nvPr/>
        </p:nvSpPr>
        <p:spPr>
          <a:xfrm>
            <a:off x="1742303" y="787782"/>
            <a:ext cx="4596713" cy="369332"/>
          </a:xfrm>
          <a:prstGeom prst="rect">
            <a:avLst/>
          </a:prstGeom>
          <a:noFill/>
        </p:spPr>
        <p:txBody>
          <a:bodyPr wrap="square" rtlCol="0">
            <a:spAutoFit/>
          </a:bodyPr>
          <a:lstStyle/>
          <a:p>
            <a:r>
              <a:rPr lang="en-IN" dirty="0"/>
              <a:t>4.Boxplot for Arrivals</a:t>
            </a:r>
          </a:p>
        </p:txBody>
      </p:sp>
      <p:pic>
        <p:nvPicPr>
          <p:cNvPr id="5" name="Picture 4">
            <a:extLst>
              <a:ext uri="{FF2B5EF4-FFF2-40B4-BE49-F238E27FC236}">
                <a16:creationId xmlns:a16="http://schemas.microsoft.com/office/drawing/2014/main" id="{40EA31F4-5ADE-BCBE-60CE-1D1881E5A933}"/>
              </a:ext>
            </a:extLst>
          </p:cNvPr>
          <p:cNvPicPr>
            <a:picLocks noChangeAspect="1"/>
          </p:cNvPicPr>
          <p:nvPr/>
        </p:nvPicPr>
        <p:blipFill>
          <a:blip r:embed="rId2"/>
          <a:stretch>
            <a:fillRect/>
          </a:stretch>
        </p:blipFill>
        <p:spPr>
          <a:xfrm>
            <a:off x="921696" y="1330556"/>
            <a:ext cx="5269040" cy="2511816"/>
          </a:xfrm>
          <a:prstGeom prst="rect">
            <a:avLst/>
          </a:prstGeom>
        </p:spPr>
      </p:pic>
      <p:pic>
        <p:nvPicPr>
          <p:cNvPr id="7" name="Picture 6">
            <a:extLst>
              <a:ext uri="{FF2B5EF4-FFF2-40B4-BE49-F238E27FC236}">
                <a16:creationId xmlns:a16="http://schemas.microsoft.com/office/drawing/2014/main" id="{D174E04F-3AB6-C425-EDA6-9040A30C0E23}"/>
              </a:ext>
            </a:extLst>
          </p:cNvPr>
          <p:cNvPicPr>
            <a:picLocks noChangeAspect="1"/>
          </p:cNvPicPr>
          <p:nvPr/>
        </p:nvPicPr>
        <p:blipFill>
          <a:blip r:embed="rId3"/>
          <a:stretch>
            <a:fillRect/>
          </a:stretch>
        </p:blipFill>
        <p:spPr>
          <a:xfrm>
            <a:off x="6339016" y="1367464"/>
            <a:ext cx="5162567" cy="2454910"/>
          </a:xfrm>
          <a:prstGeom prst="rect">
            <a:avLst/>
          </a:prstGeom>
        </p:spPr>
      </p:pic>
      <p:sp>
        <p:nvSpPr>
          <p:cNvPr id="4" name="TextBox 3">
            <a:extLst>
              <a:ext uri="{FF2B5EF4-FFF2-40B4-BE49-F238E27FC236}">
                <a16:creationId xmlns:a16="http://schemas.microsoft.com/office/drawing/2014/main" id="{97D29324-F48D-86AB-946D-B1965757A521}"/>
              </a:ext>
            </a:extLst>
          </p:cNvPr>
          <p:cNvSpPr txBox="1"/>
          <p:nvPr/>
        </p:nvSpPr>
        <p:spPr>
          <a:xfrm>
            <a:off x="1025611" y="4250724"/>
            <a:ext cx="10475972" cy="1600438"/>
          </a:xfrm>
          <a:prstGeom prst="rect">
            <a:avLst/>
          </a:prstGeom>
          <a:noFill/>
        </p:spPr>
        <p:txBody>
          <a:bodyPr wrap="square" rtlCol="0">
            <a:spAutoFit/>
          </a:bodyPr>
          <a:lstStyle/>
          <a:p>
            <a:r>
              <a:rPr lang="en-US" sz="1400" dirty="0"/>
              <a:t>1)The boxplot of onion arrivals shows a highly skewed distribution with a majority of values concentrated at low levels and a few extreme outliers exceeding 15,000 tonnes. The presence of these outliers indicates rare but substantial spikes in arrivals, possibly due to unusual market conditions or harvest surges.</a:t>
            </a:r>
          </a:p>
          <a:p>
            <a:endParaRPr lang="en-US" sz="1400" dirty="0"/>
          </a:p>
          <a:p>
            <a:r>
              <a:rPr lang="en-US" sz="1400" dirty="0"/>
              <a:t>2) The boxplot reveals a median arrival of around 200 tonnes. The majority of arrivals fall within a relatively narrow range, suggesting consistent arrival quantities. However, the presence of outliers and the longer whisker on the upper side suggests a right-skewed distribution, indicating that there are instances of significantly higher arrival volumes</a:t>
            </a:r>
            <a:endParaRPr lang="en-IN" sz="1400" dirty="0"/>
          </a:p>
        </p:txBody>
      </p:sp>
    </p:spTree>
    <p:extLst>
      <p:ext uri="{BB962C8B-B14F-4D97-AF65-F5344CB8AC3E}">
        <p14:creationId xmlns:p14="http://schemas.microsoft.com/office/powerpoint/2010/main" val="3330206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6FD79-6D25-680C-E376-56C9B7F13ABF}"/>
              </a:ext>
            </a:extLst>
          </p:cNvPr>
          <p:cNvSpPr>
            <a:spLocks noGrp="1"/>
          </p:cNvSpPr>
          <p:nvPr>
            <p:ph type="title"/>
          </p:nvPr>
        </p:nvSpPr>
        <p:spPr>
          <a:xfrm>
            <a:off x="2553596" y="469252"/>
            <a:ext cx="7534301" cy="683655"/>
          </a:xfrm>
        </p:spPr>
        <p:txBody>
          <a:bodyPr>
            <a:normAutofit/>
          </a:bodyPr>
          <a:lstStyle/>
          <a:p>
            <a:pPr>
              <a:lnSpc>
                <a:spcPct val="107000"/>
              </a:lnSpc>
              <a:spcAft>
                <a:spcPts val="800"/>
              </a:spcAft>
              <a:tabLst>
                <a:tab pos="4815840" algn="l"/>
              </a:tabLst>
            </a:pPr>
            <a:r>
              <a:rPr lang="en-IN" sz="2400" b="1" kern="100" dirty="0">
                <a:effectLst/>
                <a:ea typeface="Calibri" panose="020F0502020204030204" pitchFamily="34" charset="0"/>
                <a:cs typeface="Times New Roman" panose="02020603050405020304" pitchFamily="18" charset="0"/>
              </a:rPr>
              <a:t>Boxplot of Variation of Modal Price by District</a:t>
            </a:r>
            <a:endParaRPr lang="en-IN" sz="2400" kern="100" dirty="0">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F4645E-D9A1-2883-B0F3-9E8222E3796C}"/>
              </a:ext>
            </a:extLst>
          </p:cNvPr>
          <p:cNvSpPr>
            <a:spLocks noGrp="1"/>
          </p:cNvSpPr>
          <p:nvPr>
            <p:ph idx="1"/>
          </p:nvPr>
        </p:nvSpPr>
        <p:spPr>
          <a:xfrm>
            <a:off x="1569500" y="5567755"/>
            <a:ext cx="8632755" cy="1172944"/>
          </a:xfrm>
        </p:spPr>
        <p:txBody>
          <a:bodyPr>
            <a:normAutofit fontScale="85000" lnSpcReduction="10000"/>
          </a:bodyPr>
          <a:lstStyle/>
          <a:p>
            <a:r>
              <a:rPr lang="en-US" dirty="0"/>
              <a:t>This dot plot illustrates the variation of modal onion prices across different districts. It reveals significant price differences, with some districts having markedly higher modal prices than others. A few districts show outliers with significantly higher prices. This suggests that factors like local supply and demand, transportation costs, and market dynamics likely influence price variations across the region.</a:t>
            </a:r>
            <a:endParaRPr lang="en-IN" b="1" dirty="0"/>
          </a:p>
        </p:txBody>
      </p:sp>
      <p:sp>
        <p:nvSpPr>
          <p:cNvPr id="4" name="Slide Number Placeholder 3">
            <a:extLst>
              <a:ext uri="{FF2B5EF4-FFF2-40B4-BE49-F238E27FC236}">
                <a16:creationId xmlns:a16="http://schemas.microsoft.com/office/drawing/2014/main" id="{65CC1B52-FA52-72B0-2CC5-2AA4835923A7}"/>
              </a:ext>
            </a:extLst>
          </p:cNvPr>
          <p:cNvSpPr>
            <a:spLocks noGrp="1"/>
          </p:cNvSpPr>
          <p:nvPr>
            <p:ph type="sldNum" sz="quarter" idx="12"/>
          </p:nvPr>
        </p:nvSpPr>
        <p:spPr/>
        <p:txBody>
          <a:bodyPr/>
          <a:lstStyle/>
          <a:p>
            <a:fld id="{0D3E3056-22A3-4E2C-9164-3EEDF19BB457}" type="slidenum">
              <a:rPr lang="en-IN" smtClean="0"/>
              <a:t>12</a:t>
            </a:fld>
            <a:endParaRPr lang="en-IN" dirty="0"/>
          </a:p>
        </p:txBody>
      </p:sp>
      <p:pic>
        <p:nvPicPr>
          <p:cNvPr id="5" name="Picture 4">
            <a:extLst>
              <a:ext uri="{FF2B5EF4-FFF2-40B4-BE49-F238E27FC236}">
                <a16:creationId xmlns:a16="http://schemas.microsoft.com/office/drawing/2014/main" id="{BA1E187C-7318-0392-C23F-F6418FFA633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17290" y="1327355"/>
            <a:ext cx="8284965" cy="3805084"/>
          </a:xfrm>
          <a:prstGeom prst="rect">
            <a:avLst/>
          </a:prstGeom>
          <a:noFill/>
          <a:ln>
            <a:solidFill>
              <a:schemeClr val="tx1"/>
            </a:solidFill>
          </a:ln>
        </p:spPr>
      </p:pic>
    </p:spTree>
    <p:extLst>
      <p:ext uri="{BB962C8B-B14F-4D97-AF65-F5344CB8AC3E}">
        <p14:creationId xmlns:p14="http://schemas.microsoft.com/office/powerpoint/2010/main" val="174995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224C3-D6B2-174F-A84E-90987306BE4A}"/>
              </a:ext>
            </a:extLst>
          </p:cNvPr>
          <p:cNvSpPr>
            <a:spLocks noGrp="1"/>
          </p:cNvSpPr>
          <p:nvPr>
            <p:ph type="title"/>
          </p:nvPr>
        </p:nvSpPr>
        <p:spPr>
          <a:xfrm>
            <a:off x="2484771" y="171826"/>
            <a:ext cx="6423256" cy="615956"/>
          </a:xfrm>
        </p:spPr>
        <p:txBody>
          <a:bodyPr>
            <a:normAutofit/>
          </a:bodyPr>
          <a:lstStyle/>
          <a:p>
            <a:pPr>
              <a:lnSpc>
                <a:spcPct val="107000"/>
              </a:lnSpc>
              <a:spcAft>
                <a:spcPts val="800"/>
              </a:spcAft>
              <a:tabLst>
                <a:tab pos="4815840" algn="l"/>
              </a:tabLst>
            </a:pPr>
            <a:r>
              <a:rPr lang="en-IN" sz="2400" b="1" kern="100" dirty="0">
                <a:effectLst/>
                <a:ea typeface="Calibri" panose="020F0502020204030204" pitchFamily="34" charset="0"/>
                <a:cs typeface="Times New Roman" panose="02020603050405020304" pitchFamily="18" charset="0"/>
              </a:rPr>
              <a:t>Boxplot of Modal Price by Variety</a:t>
            </a:r>
            <a:endParaRPr lang="en-IN" sz="2400" kern="100" dirty="0">
              <a:effectLst/>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71E657C-025C-47C3-B9F7-BE6EC46D869F}"/>
              </a:ext>
            </a:extLst>
          </p:cNvPr>
          <p:cNvSpPr>
            <a:spLocks noGrp="1"/>
          </p:cNvSpPr>
          <p:nvPr>
            <p:ph type="sldNum" sz="quarter" idx="12"/>
          </p:nvPr>
        </p:nvSpPr>
        <p:spPr/>
        <p:txBody>
          <a:bodyPr/>
          <a:lstStyle/>
          <a:p>
            <a:fld id="{0D3E3056-22A3-4E2C-9164-3EEDF19BB457}" type="slidenum">
              <a:rPr lang="en-IN" smtClean="0"/>
              <a:t>13</a:t>
            </a:fld>
            <a:endParaRPr lang="en-IN" dirty="0"/>
          </a:p>
        </p:txBody>
      </p:sp>
      <p:sp>
        <p:nvSpPr>
          <p:cNvPr id="7" name="Content Placeholder 6">
            <a:extLst>
              <a:ext uri="{FF2B5EF4-FFF2-40B4-BE49-F238E27FC236}">
                <a16:creationId xmlns:a16="http://schemas.microsoft.com/office/drawing/2014/main" id="{0EECE296-5890-1CDE-0F34-9735962BE0D3}"/>
              </a:ext>
            </a:extLst>
          </p:cNvPr>
          <p:cNvSpPr>
            <a:spLocks noGrp="1"/>
          </p:cNvSpPr>
          <p:nvPr>
            <p:ph idx="1"/>
          </p:nvPr>
        </p:nvSpPr>
        <p:spPr>
          <a:xfrm>
            <a:off x="1503950" y="5386281"/>
            <a:ext cx="8915400" cy="847609"/>
          </a:xfrm>
        </p:spPr>
        <p:txBody>
          <a:bodyPr>
            <a:noAutofit/>
          </a:bodyPr>
          <a:lstStyle/>
          <a:p>
            <a:r>
              <a:rPr lang="en-US" sz="1400" dirty="0"/>
              <a:t>This box plot illustrates the modal prices of different onion varieties. "1st Sort" and "White" varieties generally have higher median prices compared to others. The spread of prices is relatively similar across most varieties. The presence of whiskers and potential outliers suggests that extreme price points might exist for some varieties. This highlights the significant influence of variety on onion prices</a:t>
            </a:r>
            <a:endParaRPr lang="en-IN" sz="1400" dirty="0"/>
          </a:p>
        </p:txBody>
      </p:sp>
      <p:pic>
        <p:nvPicPr>
          <p:cNvPr id="8" name="Picture 7">
            <a:extLst>
              <a:ext uri="{FF2B5EF4-FFF2-40B4-BE49-F238E27FC236}">
                <a16:creationId xmlns:a16="http://schemas.microsoft.com/office/drawing/2014/main" id="{4FDB3AFD-8895-B0B4-A4F8-FB332FE3D7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904568"/>
            <a:ext cx="8308258" cy="4115909"/>
          </a:xfrm>
          <a:prstGeom prst="rect">
            <a:avLst/>
          </a:prstGeom>
          <a:noFill/>
          <a:ln>
            <a:solidFill>
              <a:schemeClr val="tx1"/>
            </a:solidFill>
          </a:ln>
        </p:spPr>
      </p:pic>
    </p:spTree>
    <p:extLst>
      <p:ext uri="{BB962C8B-B14F-4D97-AF65-F5344CB8AC3E}">
        <p14:creationId xmlns:p14="http://schemas.microsoft.com/office/powerpoint/2010/main" val="519884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C025EF-07A4-5CA1-6F49-46935078C5EC}"/>
              </a:ext>
            </a:extLst>
          </p:cNvPr>
          <p:cNvSpPr>
            <a:spLocks noGrp="1"/>
          </p:cNvSpPr>
          <p:nvPr>
            <p:ph type="sldNum" sz="quarter" idx="12"/>
          </p:nvPr>
        </p:nvSpPr>
        <p:spPr/>
        <p:txBody>
          <a:bodyPr/>
          <a:lstStyle/>
          <a:p>
            <a:fld id="{0D3E3056-22A3-4E2C-9164-3EEDF19BB457}" type="slidenum">
              <a:rPr lang="en-IN" smtClean="0"/>
              <a:t>14</a:t>
            </a:fld>
            <a:endParaRPr lang="en-IN" dirty="0"/>
          </a:p>
        </p:txBody>
      </p:sp>
      <p:sp>
        <p:nvSpPr>
          <p:cNvPr id="4" name="TextBox 3">
            <a:extLst>
              <a:ext uri="{FF2B5EF4-FFF2-40B4-BE49-F238E27FC236}">
                <a16:creationId xmlns:a16="http://schemas.microsoft.com/office/drawing/2014/main" id="{95441CCB-5B07-91C7-5213-8E3C74D13C69}"/>
              </a:ext>
            </a:extLst>
          </p:cNvPr>
          <p:cNvSpPr txBox="1"/>
          <p:nvPr/>
        </p:nvSpPr>
        <p:spPr>
          <a:xfrm>
            <a:off x="4332716" y="231680"/>
            <a:ext cx="4172187" cy="738664"/>
          </a:xfrm>
          <a:prstGeom prst="rect">
            <a:avLst/>
          </a:prstGeom>
          <a:noFill/>
        </p:spPr>
        <p:txBody>
          <a:bodyPr wrap="square" rtlCol="0">
            <a:spAutoFit/>
          </a:bodyPr>
          <a:lstStyle/>
          <a:p>
            <a:r>
              <a:rPr lang="en-IN" sz="2400" b="1" kern="100" dirty="0">
                <a:effectLst/>
                <a:ea typeface="Calibri" panose="020F0502020204030204" pitchFamily="34" charset="0"/>
                <a:cs typeface="Times New Roman" panose="02020603050405020304" pitchFamily="18" charset="0"/>
              </a:rPr>
              <a:t>Bar plot for Variety</a:t>
            </a:r>
            <a:endParaRPr lang="en-IN" sz="2400" kern="100" dirty="0">
              <a:effectLst/>
              <a:ea typeface="Calibri" panose="020F0502020204030204" pitchFamily="34"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9DB75587-E996-838A-63D1-16B7C0EEFA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5613" y="970344"/>
            <a:ext cx="8160773" cy="3638726"/>
          </a:xfrm>
          <a:prstGeom prst="rect">
            <a:avLst/>
          </a:prstGeom>
          <a:noFill/>
          <a:ln>
            <a:solidFill>
              <a:schemeClr val="tx1"/>
            </a:solidFill>
          </a:ln>
        </p:spPr>
      </p:pic>
      <p:sp>
        <p:nvSpPr>
          <p:cNvPr id="3" name="TextBox 2">
            <a:extLst>
              <a:ext uri="{FF2B5EF4-FFF2-40B4-BE49-F238E27FC236}">
                <a16:creationId xmlns:a16="http://schemas.microsoft.com/office/drawing/2014/main" id="{905A16B9-D561-3A00-1C85-19E4FCBB1CF0}"/>
              </a:ext>
            </a:extLst>
          </p:cNvPr>
          <p:cNvSpPr txBox="1"/>
          <p:nvPr/>
        </p:nvSpPr>
        <p:spPr>
          <a:xfrm>
            <a:off x="1655805" y="5004486"/>
            <a:ext cx="8520581" cy="954107"/>
          </a:xfrm>
          <a:prstGeom prst="rect">
            <a:avLst/>
          </a:prstGeom>
          <a:noFill/>
        </p:spPr>
        <p:txBody>
          <a:bodyPr wrap="square" rtlCol="0">
            <a:spAutoFit/>
          </a:bodyPr>
          <a:lstStyle/>
          <a:p>
            <a:r>
              <a:rPr lang="en-US" sz="1400" dirty="0"/>
              <a:t>The bar chart shows the distribution of different onion varieties. "Other" is the most frequent variety, followed by "Red" and "Local." The counts generally decrease from "Other" to "Hybrid," suggesting that "Hybrid" is the least common variety. This chart provides insights into the market share of different onion varieties.</a:t>
            </a:r>
            <a:endParaRPr lang="en-IN" sz="1400" dirty="0"/>
          </a:p>
        </p:txBody>
      </p:sp>
    </p:spTree>
    <p:extLst>
      <p:ext uri="{BB962C8B-B14F-4D97-AF65-F5344CB8AC3E}">
        <p14:creationId xmlns:p14="http://schemas.microsoft.com/office/powerpoint/2010/main" val="3318793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C7F441-42CB-9FB6-982E-3546D72F103A}"/>
              </a:ext>
            </a:extLst>
          </p:cNvPr>
          <p:cNvSpPr>
            <a:spLocks noGrp="1"/>
          </p:cNvSpPr>
          <p:nvPr>
            <p:ph type="sldNum" sz="quarter" idx="12"/>
          </p:nvPr>
        </p:nvSpPr>
        <p:spPr/>
        <p:txBody>
          <a:bodyPr/>
          <a:lstStyle/>
          <a:p>
            <a:fld id="{0D3E3056-22A3-4E2C-9164-3EEDF19BB457}" type="slidenum">
              <a:rPr lang="en-IN" smtClean="0"/>
              <a:t>15</a:t>
            </a:fld>
            <a:endParaRPr lang="en-IN" dirty="0"/>
          </a:p>
        </p:txBody>
      </p:sp>
      <p:sp>
        <p:nvSpPr>
          <p:cNvPr id="4" name="TextBox 3">
            <a:extLst>
              <a:ext uri="{FF2B5EF4-FFF2-40B4-BE49-F238E27FC236}">
                <a16:creationId xmlns:a16="http://schemas.microsoft.com/office/drawing/2014/main" id="{0658438D-179F-8AAD-CAAB-DB1A47C48E1F}"/>
              </a:ext>
            </a:extLst>
          </p:cNvPr>
          <p:cNvSpPr txBox="1"/>
          <p:nvPr/>
        </p:nvSpPr>
        <p:spPr>
          <a:xfrm>
            <a:off x="3091156" y="256883"/>
            <a:ext cx="5777541" cy="396006"/>
          </a:xfrm>
          <a:prstGeom prst="rect">
            <a:avLst/>
          </a:prstGeom>
          <a:noFill/>
        </p:spPr>
        <p:txBody>
          <a:bodyPr wrap="square" rtlCol="0">
            <a:spAutoFit/>
          </a:bodyPr>
          <a:lstStyle/>
          <a:p>
            <a:pPr>
              <a:lnSpc>
                <a:spcPct val="107000"/>
              </a:lnSpc>
              <a:spcAft>
                <a:spcPts val="800"/>
              </a:spcAft>
              <a:tabLst>
                <a:tab pos="4815840" algn="l"/>
              </a:tabLst>
            </a:pPr>
            <a:r>
              <a:rPr lang="en-IN" sz="2000" b="1" kern="100" dirty="0">
                <a:effectLst/>
                <a:ea typeface="Calibri" panose="020F0502020204030204" pitchFamily="34" charset="0"/>
                <a:cs typeface="Times New Roman" panose="02020603050405020304" pitchFamily="18" charset="0"/>
              </a:rPr>
              <a:t>Bar plot for average modal price by Variety</a:t>
            </a:r>
            <a:endParaRPr lang="en-IN" sz="2000" kern="100" dirty="0">
              <a:effectLs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E5724CB-09F2-CF56-0B3C-2E77E4C4C97D}"/>
              </a:ext>
            </a:extLst>
          </p:cNvPr>
          <p:cNvSpPr txBox="1"/>
          <p:nvPr/>
        </p:nvSpPr>
        <p:spPr>
          <a:xfrm>
            <a:off x="1887794" y="4901904"/>
            <a:ext cx="8516595" cy="1276474"/>
          </a:xfrm>
          <a:prstGeom prst="rect">
            <a:avLst/>
          </a:prstGeom>
          <a:noFill/>
        </p:spPr>
        <p:txBody>
          <a:bodyPr wrap="square" rtlCol="0">
            <a:spAutoFit/>
          </a:bodyPr>
          <a:lstStyle/>
          <a:p>
            <a:r>
              <a:rPr lang="en-US" dirty="0"/>
              <a:t> </a:t>
            </a:r>
            <a:r>
              <a:rPr lang="en-US" sz="1400" dirty="0"/>
              <a:t>This bar chart illustrates the average modal price (most frequent price) for different onion varieties. "Pole" onions have the highest average modal price, followed by "1st Sort" and "White". "Hybrid" onions have the lowest average modal price. This suggests that certain varieties command higher prices in the market, likely due to factors like quality, demand, and market segmentation.</a:t>
            </a:r>
            <a:endParaRPr lang="en-IN" sz="1400" dirty="0"/>
          </a:p>
        </p:txBody>
      </p:sp>
      <p:pic>
        <p:nvPicPr>
          <p:cNvPr id="6" name="Picture 5">
            <a:extLst>
              <a:ext uri="{FF2B5EF4-FFF2-40B4-BE49-F238E27FC236}">
                <a16:creationId xmlns:a16="http://schemas.microsoft.com/office/drawing/2014/main" id="{5FCD94E5-4B23-A5F8-9728-837CE342C09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2443" y="1177621"/>
            <a:ext cx="8288593" cy="3542661"/>
          </a:xfrm>
          <a:prstGeom prst="rect">
            <a:avLst/>
          </a:prstGeom>
          <a:noFill/>
          <a:ln>
            <a:solidFill>
              <a:schemeClr val="tx1"/>
            </a:solidFill>
          </a:ln>
        </p:spPr>
      </p:pic>
    </p:spTree>
    <p:extLst>
      <p:ext uri="{BB962C8B-B14F-4D97-AF65-F5344CB8AC3E}">
        <p14:creationId xmlns:p14="http://schemas.microsoft.com/office/powerpoint/2010/main" val="3133084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6A80479-C023-7133-A3AD-E3A543912F4A}"/>
              </a:ext>
            </a:extLst>
          </p:cNvPr>
          <p:cNvSpPr>
            <a:spLocks noGrp="1"/>
          </p:cNvSpPr>
          <p:nvPr>
            <p:ph type="subTitle" idx="1"/>
          </p:nvPr>
        </p:nvSpPr>
        <p:spPr>
          <a:xfrm>
            <a:off x="1524000" y="5743575"/>
            <a:ext cx="9144000" cy="812781"/>
          </a:xfrm>
        </p:spPr>
        <p:txBody>
          <a:bodyPr>
            <a:normAutofit fontScale="92500" lnSpcReduction="10000"/>
          </a:bodyPr>
          <a:lstStyle/>
          <a:p>
            <a:pPr algn="l"/>
            <a:r>
              <a:rPr lang="en-US" dirty="0"/>
              <a:t>The plot illustrates the top 10 markets with the highest maximum onion prices. </a:t>
            </a:r>
            <a:r>
              <a:rPr lang="en-US" b="1" dirty="0"/>
              <a:t>Junnar(Alephata) </a:t>
            </a:r>
            <a:r>
              <a:rPr lang="en-US" dirty="0"/>
              <a:t>commands the highest price at around 100,000 Rs/Quintal, while Indapur reports the lowest price at approximately 20,000 Rs/Quintal.</a:t>
            </a:r>
            <a:endParaRPr lang="en-IN" b="1" dirty="0"/>
          </a:p>
        </p:txBody>
      </p:sp>
      <p:sp>
        <p:nvSpPr>
          <p:cNvPr id="4" name="Slide Number Placeholder 3">
            <a:extLst>
              <a:ext uri="{FF2B5EF4-FFF2-40B4-BE49-F238E27FC236}">
                <a16:creationId xmlns:a16="http://schemas.microsoft.com/office/drawing/2014/main" id="{106973F0-E5A8-3295-4003-7657804EE7F4}"/>
              </a:ext>
            </a:extLst>
          </p:cNvPr>
          <p:cNvSpPr>
            <a:spLocks noGrp="1"/>
          </p:cNvSpPr>
          <p:nvPr>
            <p:ph type="sldNum" sz="quarter" idx="12"/>
          </p:nvPr>
        </p:nvSpPr>
        <p:spPr/>
        <p:txBody>
          <a:bodyPr/>
          <a:lstStyle/>
          <a:p>
            <a:fld id="{0D3E3056-22A3-4E2C-9164-3EEDF19BB457}" type="slidenum">
              <a:rPr lang="en-IN" smtClean="0"/>
              <a:t>16</a:t>
            </a:fld>
            <a:endParaRPr lang="en-IN" dirty="0"/>
          </a:p>
        </p:txBody>
      </p:sp>
      <p:sp>
        <p:nvSpPr>
          <p:cNvPr id="7" name="Title 6">
            <a:extLst>
              <a:ext uri="{FF2B5EF4-FFF2-40B4-BE49-F238E27FC236}">
                <a16:creationId xmlns:a16="http://schemas.microsoft.com/office/drawing/2014/main" id="{C82B68A9-E297-C5A3-6823-3BE2B859B93D}"/>
              </a:ext>
            </a:extLst>
          </p:cNvPr>
          <p:cNvSpPr>
            <a:spLocks noGrp="1"/>
          </p:cNvSpPr>
          <p:nvPr>
            <p:ph type="ctrTitle"/>
          </p:nvPr>
        </p:nvSpPr>
        <p:spPr>
          <a:xfrm>
            <a:off x="2844852" y="245807"/>
            <a:ext cx="7193884" cy="786580"/>
          </a:xfrm>
        </p:spPr>
        <p:txBody>
          <a:bodyPr>
            <a:normAutofit fontScale="90000"/>
          </a:bodyPr>
          <a:lstStyle/>
          <a:p>
            <a:r>
              <a:rPr lang="en-IN" sz="2400" b="1" kern="100" dirty="0">
                <a:effectLst/>
                <a:latin typeface="+mn-lt"/>
                <a:ea typeface="Calibri" panose="020F0502020204030204" pitchFamily="34" charset="0"/>
                <a:cs typeface="Times New Roman" panose="02020603050405020304" pitchFamily="18" charset="0"/>
              </a:rPr>
              <a:t>Bar plot of top 10 </a:t>
            </a:r>
            <a:r>
              <a:rPr lang="en-IN" sz="2400" b="1" kern="100" dirty="0">
                <a:latin typeface="+mn-lt"/>
                <a:ea typeface="Calibri" panose="020F0502020204030204" pitchFamily="34" charset="0"/>
                <a:cs typeface="Times New Roman" panose="02020603050405020304" pitchFamily="18" charset="0"/>
              </a:rPr>
              <a:t>Markets By Maximum Prices </a:t>
            </a:r>
            <a:br>
              <a:rPr lang="en-IN"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800" dirty="0"/>
          </a:p>
        </p:txBody>
      </p:sp>
      <p:pic>
        <p:nvPicPr>
          <p:cNvPr id="6" name="Picture 5">
            <a:extLst>
              <a:ext uri="{FF2B5EF4-FFF2-40B4-BE49-F238E27FC236}">
                <a16:creationId xmlns:a16="http://schemas.microsoft.com/office/drawing/2014/main" id="{C5A5249F-2423-B68A-43AC-022036D27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987" y="1114425"/>
            <a:ext cx="8582025" cy="4327370"/>
          </a:xfrm>
          <a:prstGeom prst="rect">
            <a:avLst/>
          </a:prstGeom>
        </p:spPr>
      </p:pic>
    </p:spTree>
    <p:extLst>
      <p:ext uri="{BB962C8B-B14F-4D97-AF65-F5344CB8AC3E}">
        <p14:creationId xmlns:p14="http://schemas.microsoft.com/office/powerpoint/2010/main" val="492245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2A838-41F5-54EE-E02A-B61BFB6C43E3}"/>
              </a:ext>
            </a:extLst>
          </p:cNvPr>
          <p:cNvSpPr>
            <a:spLocks noGrp="1"/>
          </p:cNvSpPr>
          <p:nvPr>
            <p:ph type="title"/>
          </p:nvPr>
        </p:nvSpPr>
        <p:spPr>
          <a:xfrm>
            <a:off x="2602758" y="268354"/>
            <a:ext cx="6518940" cy="519427"/>
          </a:xfrm>
        </p:spPr>
        <p:txBody>
          <a:bodyPr>
            <a:normAutofit/>
          </a:bodyPr>
          <a:lstStyle/>
          <a:p>
            <a:pPr>
              <a:lnSpc>
                <a:spcPct val="107000"/>
              </a:lnSpc>
              <a:spcAft>
                <a:spcPts val="800"/>
              </a:spcAft>
              <a:tabLst>
                <a:tab pos="4815840" algn="l"/>
              </a:tabLst>
            </a:pPr>
            <a:r>
              <a:rPr lang="en-IN" sz="2400" b="1" kern="100" dirty="0">
                <a:effectLst/>
                <a:latin typeface="+mn-lt"/>
                <a:ea typeface="Calibri" panose="020F0502020204030204" pitchFamily="34" charset="0"/>
                <a:cs typeface="Times New Roman" panose="02020603050405020304" pitchFamily="18" charset="0"/>
              </a:rPr>
              <a:t>Top 10 markets </a:t>
            </a:r>
            <a:r>
              <a:rPr lang="en-IN" sz="2400" b="1" kern="100" dirty="0">
                <a:latin typeface="+mn-lt"/>
                <a:ea typeface="Calibri" panose="020F0502020204030204" pitchFamily="34" charset="0"/>
                <a:cs typeface="Times New Roman" panose="02020603050405020304" pitchFamily="18" charset="0"/>
              </a:rPr>
              <a:t>by Lowest Minimum Prices </a:t>
            </a:r>
            <a:endParaRPr lang="en-IN" sz="2400" kern="100" dirty="0">
              <a:effectLst/>
              <a:latin typeface="+mn-lt"/>
              <a:ea typeface="Calibri" panose="020F0502020204030204" pitchFamily="34"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A74DB4F6-D35B-E337-AC80-32F1F82361DE}"/>
              </a:ext>
            </a:extLst>
          </p:cNvPr>
          <p:cNvSpPr>
            <a:spLocks noGrp="1"/>
          </p:cNvSpPr>
          <p:nvPr>
            <p:ph idx="1"/>
          </p:nvPr>
        </p:nvSpPr>
        <p:spPr>
          <a:xfrm>
            <a:off x="1714141" y="5631425"/>
            <a:ext cx="8915400" cy="958221"/>
          </a:xfrm>
        </p:spPr>
        <p:txBody>
          <a:bodyPr>
            <a:normAutofit/>
          </a:bodyPr>
          <a:lstStyle/>
          <a:p>
            <a:pPr marL="0" indent="0">
              <a:buNone/>
            </a:pPr>
            <a:r>
              <a:rPr lang="en-US" dirty="0"/>
              <a:t>The plot shows the top 10 markets with the lowest minimum onion prices, with </a:t>
            </a:r>
            <a:r>
              <a:rPr lang="en-US" b="1" dirty="0"/>
              <a:t>Devala</a:t>
            </a:r>
            <a:r>
              <a:rPr lang="en-US" dirty="0"/>
              <a:t> having the lowest price at around 20 Rs/Quintal, and Morshi having the highest price at around 1 Rs/Quintal</a:t>
            </a:r>
            <a:endParaRPr lang="en-IN" dirty="0"/>
          </a:p>
        </p:txBody>
      </p:sp>
      <p:sp>
        <p:nvSpPr>
          <p:cNvPr id="4" name="Slide Number Placeholder 3">
            <a:extLst>
              <a:ext uri="{FF2B5EF4-FFF2-40B4-BE49-F238E27FC236}">
                <a16:creationId xmlns:a16="http://schemas.microsoft.com/office/drawing/2014/main" id="{D153D191-53E2-3503-B2C5-AEBBAABEFE15}"/>
              </a:ext>
            </a:extLst>
          </p:cNvPr>
          <p:cNvSpPr>
            <a:spLocks noGrp="1"/>
          </p:cNvSpPr>
          <p:nvPr>
            <p:ph type="sldNum" sz="quarter" idx="12"/>
          </p:nvPr>
        </p:nvSpPr>
        <p:spPr/>
        <p:txBody>
          <a:bodyPr/>
          <a:lstStyle/>
          <a:p>
            <a:fld id="{0D3E3056-22A3-4E2C-9164-3EEDF19BB457}" type="slidenum">
              <a:rPr lang="en-IN" smtClean="0"/>
              <a:t>17</a:t>
            </a:fld>
            <a:endParaRPr lang="en-IN" dirty="0"/>
          </a:p>
        </p:txBody>
      </p:sp>
      <p:pic>
        <p:nvPicPr>
          <p:cNvPr id="6" name="Picture 5">
            <a:extLst>
              <a:ext uri="{FF2B5EF4-FFF2-40B4-BE49-F238E27FC236}">
                <a16:creationId xmlns:a16="http://schemas.microsoft.com/office/drawing/2014/main" id="{F79C259A-07A7-29CF-2F03-198693E24E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4987" y="906245"/>
            <a:ext cx="8582025" cy="4357131"/>
          </a:xfrm>
          <a:prstGeom prst="rect">
            <a:avLst/>
          </a:prstGeom>
        </p:spPr>
      </p:pic>
    </p:spTree>
    <p:extLst>
      <p:ext uri="{BB962C8B-B14F-4D97-AF65-F5344CB8AC3E}">
        <p14:creationId xmlns:p14="http://schemas.microsoft.com/office/powerpoint/2010/main" val="2273184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A0A6-32A8-9890-DD9C-FC0592E1F489}"/>
              </a:ext>
            </a:extLst>
          </p:cNvPr>
          <p:cNvSpPr>
            <a:spLocks noGrp="1"/>
          </p:cNvSpPr>
          <p:nvPr>
            <p:ph type="title"/>
          </p:nvPr>
        </p:nvSpPr>
        <p:spPr/>
        <p:txBody>
          <a:bodyPr/>
          <a:lstStyle/>
          <a:p>
            <a:r>
              <a:rPr lang="en-IN" dirty="0"/>
              <a:t>Top 10 Districts by Max Arrivals</a:t>
            </a:r>
          </a:p>
        </p:txBody>
      </p:sp>
      <p:pic>
        <p:nvPicPr>
          <p:cNvPr id="6" name="Content Placeholder 5">
            <a:extLst>
              <a:ext uri="{FF2B5EF4-FFF2-40B4-BE49-F238E27FC236}">
                <a16:creationId xmlns:a16="http://schemas.microsoft.com/office/drawing/2014/main" id="{D25ECF9E-CA82-E1EE-0F9E-7FDFEC7629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4644" y="1264555"/>
            <a:ext cx="8283204" cy="3778250"/>
          </a:xfrm>
        </p:spPr>
      </p:pic>
      <p:sp>
        <p:nvSpPr>
          <p:cNvPr id="4" name="Slide Number Placeholder 3">
            <a:extLst>
              <a:ext uri="{FF2B5EF4-FFF2-40B4-BE49-F238E27FC236}">
                <a16:creationId xmlns:a16="http://schemas.microsoft.com/office/drawing/2014/main" id="{EE9B246F-867A-992D-0DCF-6E1D095B7BEE}"/>
              </a:ext>
            </a:extLst>
          </p:cNvPr>
          <p:cNvSpPr>
            <a:spLocks noGrp="1"/>
          </p:cNvSpPr>
          <p:nvPr>
            <p:ph type="sldNum" sz="quarter" idx="12"/>
          </p:nvPr>
        </p:nvSpPr>
        <p:spPr/>
        <p:txBody>
          <a:bodyPr/>
          <a:lstStyle/>
          <a:p>
            <a:fld id="{0D3E3056-22A3-4E2C-9164-3EEDF19BB457}" type="slidenum">
              <a:rPr lang="en-IN" smtClean="0"/>
              <a:t>18</a:t>
            </a:fld>
            <a:endParaRPr lang="en-IN" dirty="0"/>
          </a:p>
        </p:txBody>
      </p:sp>
      <p:sp>
        <p:nvSpPr>
          <p:cNvPr id="8" name="TextBox 7">
            <a:extLst>
              <a:ext uri="{FF2B5EF4-FFF2-40B4-BE49-F238E27FC236}">
                <a16:creationId xmlns:a16="http://schemas.microsoft.com/office/drawing/2014/main" id="{8F105D65-2DF7-8774-AE2B-2534D71ED890}"/>
              </a:ext>
            </a:extLst>
          </p:cNvPr>
          <p:cNvSpPr txBox="1"/>
          <p:nvPr/>
        </p:nvSpPr>
        <p:spPr>
          <a:xfrm>
            <a:off x="2295877" y="5308667"/>
            <a:ext cx="8580737" cy="1200329"/>
          </a:xfrm>
          <a:prstGeom prst="rect">
            <a:avLst/>
          </a:prstGeom>
          <a:noFill/>
        </p:spPr>
        <p:txBody>
          <a:bodyPr wrap="square">
            <a:spAutoFit/>
          </a:bodyPr>
          <a:lstStyle/>
          <a:p>
            <a:r>
              <a:rPr lang="en-US" dirty="0"/>
              <a:t>This plot shows the top 10 districts in Maharashtra based on maximum onion arrivals. </a:t>
            </a:r>
            <a:r>
              <a:rPr lang="en-US" b="1" dirty="0"/>
              <a:t>Nashik</a:t>
            </a:r>
            <a:r>
              <a:rPr lang="en-US" dirty="0"/>
              <a:t> emerges as the district with the highest onion arrivals, followed by Ahmednagar and Pune. This information can be valuable for understanding regional onion production and distribution patterns.</a:t>
            </a:r>
            <a:endParaRPr lang="en-IN" dirty="0"/>
          </a:p>
        </p:txBody>
      </p:sp>
    </p:spTree>
    <p:extLst>
      <p:ext uri="{BB962C8B-B14F-4D97-AF65-F5344CB8AC3E}">
        <p14:creationId xmlns:p14="http://schemas.microsoft.com/office/powerpoint/2010/main" val="716917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2812" y="50738"/>
            <a:ext cx="4220412" cy="674906"/>
          </a:xfrm>
        </p:spPr>
        <p:txBody>
          <a:bodyPr>
            <a:noAutofit/>
          </a:bodyPr>
          <a:lstStyle/>
          <a:p>
            <a:r>
              <a:rPr lang="en-US" sz="2400" b="1" dirty="0">
                <a:latin typeface="+mn-lt"/>
              </a:rPr>
              <a:t>Correlation Plot</a:t>
            </a:r>
            <a:endParaRPr lang="en-IN" sz="2400" b="1" dirty="0">
              <a:latin typeface="+mn-lt"/>
            </a:endParaRPr>
          </a:p>
        </p:txBody>
      </p:sp>
      <p:sp>
        <p:nvSpPr>
          <p:cNvPr id="3" name="Subtitle 2"/>
          <p:cNvSpPr>
            <a:spLocks noGrp="1"/>
          </p:cNvSpPr>
          <p:nvPr>
            <p:ph type="subTitle" idx="1"/>
          </p:nvPr>
        </p:nvSpPr>
        <p:spPr>
          <a:xfrm>
            <a:off x="2286119" y="5506381"/>
            <a:ext cx="8820495" cy="999635"/>
          </a:xfrm>
        </p:spPr>
        <p:txBody>
          <a:bodyPr>
            <a:normAutofit fontScale="85000" lnSpcReduction="10000"/>
          </a:bodyPr>
          <a:lstStyle/>
          <a:p>
            <a:pPr algn="l"/>
            <a:r>
              <a:rPr lang="en-US" b="1" dirty="0"/>
              <a:t>This correlation plot visualizes the relationships between four variables: Arrivals (Tonnes), Minimum Price, Maximum Price, and Modal Price. Darker blue circles indicate a stronger positive correlation, while lighter blue circles suggest a weaker correlation. The plot reveals high correlations between all four variables, suggesting that they are closely interconnected</a:t>
            </a:r>
            <a:r>
              <a:rPr lang="en-US" dirty="0"/>
              <a:t>.</a:t>
            </a:r>
            <a:endParaRPr lang="en-US" b="1" dirty="0"/>
          </a:p>
        </p:txBody>
      </p:sp>
      <p:sp>
        <p:nvSpPr>
          <p:cNvPr id="4" name="Slide Number Placeholder 3">
            <a:extLst>
              <a:ext uri="{FF2B5EF4-FFF2-40B4-BE49-F238E27FC236}">
                <a16:creationId xmlns:a16="http://schemas.microsoft.com/office/drawing/2014/main" id="{02AFEF9A-ADEB-1A0F-D208-232328514B97}"/>
              </a:ext>
            </a:extLst>
          </p:cNvPr>
          <p:cNvSpPr>
            <a:spLocks noGrp="1"/>
          </p:cNvSpPr>
          <p:nvPr>
            <p:ph type="sldNum" sz="quarter" idx="12"/>
          </p:nvPr>
        </p:nvSpPr>
        <p:spPr/>
        <p:txBody>
          <a:bodyPr/>
          <a:lstStyle/>
          <a:p>
            <a:fld id="{0D3E3056-22A3-4E2C-9164-3EEDF19BB457}" type="slidenum">
              <a:rPr lang="en-IN" smtClean="0"/>
              <a:t>19</a:t>
            </a:fld>
            <a:endParaRPr lang="en-IN" dirty="0"/>
          </a:p>
        </p:txBody>
      </p:sp>
      <p:pic>
        <p:nvPicPr>
          <p:cNvPr id="5" name="Picture 4">
            <a:extLst>
              <a:ext uri="{FF2B5EF4-FFF2-40B4-BE49-F238E27FC236}">
                <a16:creationId xmlns:a16="http://schemas.microsoft.com/office/drawing/2014/main" id="{B054B885-9877-B39D-24CB-ED8B21C40D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15381" y="1239895"/>
            <a:ext cx="7934631" cy="3752235"/>
          </a:xfrm>
          <a:prstGeom prst="rect">
            <a:avLst/>
          </a:prstGeom>
          <a:noFill/>
          <a:ln>
            <a:solidFill>
              <a:schemeClr val="tx1"/>
            </a:solidFill>
          </a:ln>
        </p:spPr>
      </p:pic>
    </p:spTree>
    <p:extLst>
      <p:ext uri="{BB962C8B-B14F-4D97-AF65-F5344CB8AC3E}">
        <p14:creationId xmlns:p14="http://schemas.microsoft.com/office/powerpoint/2010/main" val="933451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988" y="102646"/>
            <a:ext cx="6066503" cy="782257"/>
          </a:xfrm>
        </p:spPr>
        <p:txBody>
          <a:bodyPr>
            <a:normAutofit fontScale="90000"/>
          </a:bodyPr>
          <a:lstStyle/>
          <a:p>
            <a:pPr>
              <a:lnSpc>
                <a:spcPct val="107000"/>
              </a:lnSpc>
              <a:spcAft>
                <a:spcPts val="800"/>
              </a:spcAft>
              <a:tabLst>
                <a:tab pos="481584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2700" b="1" kern="100" dirty="0">
                <a:effectLst/>
                <a:latin typeface="+mn-lt"/>
                <a:ea typeface="Calibri" panose="020F0502020204030204" pitchFamily="34" charset="0"/>
                <a:cs typeface="Times New Roman" panose="02020603050405020304" pitchFamily="18" charset="0"/>
              </a:rPr>
              <a:t>Boxplot For Minimum Prices (Pune)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4" name="Slide Number Placeholder 3">
            <a:extLst>
              <a:ext uri="{FF2B5EF4-FFF2-40B4-BE49-F238E27FC236}">
                <a16:creationId xmlns:a16="http://schemas.microsoft.com/office/drawing/2014/main" id="{3209BCEC-D41E-23AA-E90C-48FD74693DED}"/>
              </a:ext>
            </a:extLst>
          </p:cNvPr>
          <p:cNvSpPr>
            <a:spLocks noGrp="1"/>
          </p:cNvSpPr>
          <p:nvPr>
            <p:ph type="sldNum" sz="quarter" idx="12"/>
          </p:nvPr>
        </p:nvSpPr>
        <p:spPr/>
        <p:txBody>
          <a:bodyPr/>
          <a:lstStyle/>
          <a:p>
            <a:fld id="{0D3E3056-22A3-4E2C-9164-3EEDF19BB457}" type="slidenum">
              <a:rPr lang="en-IN" smtClean="0"/>
              <a:t>20</a:t>
            </a:fld>
            <a:endParaRPr lang="en-IN" dirty="0"/>
          </a:p>
        </p:txBody>
      </p:sp>
      <p:sp>
        <p:nvSpPr>
          <p:cNvPr id="6" name="Content Placeholder 5">
            <a:extLst>
              <a:ext uri="{FF2B5EF4-FFF2-40B4-BE49-F238E27FC236}">
                <a16:creationId xmlns:a16="http://schemas.microsoft.com/office/drawing/2014/main" id="{E046DC57-3494-A348-0CA4-4C3971B1866C}"/>
              </a:ext>
            </a:extLst>
          </p:cNvPr>
          <p:cNvSpPr>
            <a:spLocks noGrp="1"/>
          </p:cNvSpPr>
          <p:nvPr>
            <p:ph idx="1"/>
          </p:nvPr>
        </p:nvSpPr>
        <p:spPr>
          <a:xfrm>
            <a:off x="1692876" y="4603488"/>
            <a:ext cx="8915400" cy="1735528"/>
          </a:xfrm>
        </p:spPr>
        <p:txBody>
          <a:bodyPr>
            <a:normAutofit fontScale="77500" lnSpcReduction="20000"/>
          </a:bodyPr>
          <a:lstStyle/>
          <a:p>
            <a:r>
              <a:rPr lang="en-US" sz="1900" dirty="0"/>
              <a:t>The boxplot shows the distribution of minimum onion prices, including outliers. The median price is around 1500 Rs/Quintal. Most prices are clustered lower, while several outliers indicate significantly higher minimum prices. This suggests a right-skewed distribution, with a longer tail on the right side</a:t>
            </a:r>
          </a:p>
          <a:p>
            <a:r>
              <a:rPr lang="en-US" sz="1900" dirty="0"/>
              <a:t>The boxplot shows the distribution of minimum prices after removing outliers. The median remains around 1500 Rs/Quintal. The box is shorter, indicating a narrower range for the middle 50% of prices, suggesting that outliers significantly influenced the overall spread of the data. The distribution appears less skewed compared to the boxplot with outliers.</a:t>
            </a:r>
          </a:p>
          <a:p>
            <a:endParaRPr lang="en-IN" dirty="0"/>
          </a:p>
        </p:txBody>
      </p:sp>
      <p:pic>
        <p:nvPicPr>
          <p:cNvPr id="7" name="Picture 6">
            <a:extLst>
              <a:ext uri="{FF2B5EF4-FFF2-40B4-BE49-F238E27FC236}">
                <a16:creationId xmlns:a16="http://schemas.microsoft.com/office/drawing/2014/main" id="{9245C3BD-A26E-E7A4-4DFF-208968DACF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2876" y="1061884"/>
            <a:ext cx="8709653" cy="3188840"/>
          </a:xfrm>
          <a:prstGeom prst="rect">
            <a:avLst/>
          </a:prstGeom>
          <a:noFill/>
          <a:ln>
            <a:solidFill>
              <a:schemeClr val="tx1"/>
            </a:solidFill>
          </a:ln>
        </p:spPr>
      </p:pic>
    </p:spTree>
    <p:extLst>
      <p:ext uri="{BB962C8B-B14F-4D97-AF65-F5344CB8AC3E}">
        <p14:creationId xmlns:p14="http://schemas.microsoft.com/office/powerpoint/2010/main" val="2661040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9510" y="209095"/>
            <a:ext cx="7337085" cy="761249"/>
          </a:xfrm>
        </p:spPr>
        <p:txBody>
          <a:bodyPr>
            <a:normAutofit/>
          </a:bodyPr>
          <a:lstStyle/>
          <a:p>
            <a:pPr algn="ctr"/>
            <a:r>
              <a:rPr lang="en-IN" sz="2400" b="1" kern="100" dirty="0">
                <a:effectLst/>
                <a:latin typeface="+mn-lt"/>
                <a:ea typeface="Calibri" panose="020F0502020204030204" pitchFamily="34" charset="0"/>
                <a:cs typeface="Times New Roman" panose="02020603050405020304" pitchFamily="18" charset="0"/>
              </a:rPr>
              <a:t>Boxplot For Maximum Prices (Pune)</a:t>
            </a:r>
            <a:endParaRPr lang="en-IN" sz="2400" dirty="0"/>
          </a:p>
        </p:txBody>
      </p:sp>
      <p:sp>
        <p:nvSpPr>
          <p:cNvPr id="3" name="Slide Number Placeholder 2">
            <a:extLst>
              <a:ext uri="{FF2B5EF4-FFF2-40B4-BE49-F238E27FC236}">
                <a16:creationId xmlns:a16="http://schemas.microsoft.com/office/drawing/2014/main" id="{E381B557-9D96-C32B-4436-FC00C43D7935}"/>
              </a:ext>
            </a:extLst>
          </p:cNvPr>
          <p:cNvSpPr>
            <a:spLocks noGrp="1"/>
          </p:cNvSpPr>
          <p:nvPr>
            <p:ph type="sldNum" sz="quarter" idx="12"/>
          </p:nvPr>
        </p:nvSpPr>
        <p:spPr/>
        <p:txBody>
          <a:bodyPr/>
          <a:lstStyle/>
          <a:p>
            <a:fld id="{0D3E3056-22A3-4E2C-9164-3EEDF19BB457}" type="slidenum">
              <a:rPr lang="en-IN" smtClean="0"/>
              <a:t>21</a:t>
            </a:fld>
            <a:endParaRPr lang="en-IN" dirty="0"/>
          </a:p>
        </p:txBody>
      </p:sp>
      <p:sp>
        <p:nvSpPr>
          <p:cNvPr id="7" name="Content Placeholder 6">
            <a:extLst>
              <a:ext uri="{FF2B5EF4-FFF2-40B4-BE49-F238E27FC236}">
                <a16:creationId xmlns:a16="http://schemas.microsoft.com/office/drawing/2014/main" id="{E5871D2C-0355-9B82-5DD6-5D09DE5CF0D0}"/>
              </a:ext>
            </a:extLst>
          </p:cNvPr>
          <p:cNvSpPr>
            <a:spLocks noGrp="1"/>
          </p:cNvSpPr>
          <p:nvPr>
            <p:ph idx="1"/>
          </p:nvPr>
        </p:nvSpPr>
        <p:spPr>
          <a:xfrm>
            <a:off x="1964724" y="4874032"/>
            <a:ext cx="8915400" cy="1774873"/>
          </a:xfrm>
        </p:spPr>
        <p:txBody>
          <a:bodyPr>
            <a:normAutofit fontScale="85000" lnSpcReduction="20000"/>
          </a:bodyPr>
          <a:lstStyle/>
          <a:p>
            <a:r>
              <a:rPr lang="en-US" dirty="0"/>
              <a:t>The boxplot shows the distribution of maximum onion prices, including outliers. The median price is around 2500 Rs/Quintal. Most prices are clustered lower, while several outliers indicate significantly higher maximum prices. This suggests a right-skewed distribution, with a longer tail on the right side.</a:t>
            </a:r>
          </a:p>
          <a:p>
            <a:r>
              <a:rPr lang="en-US" dirty="0"/>
              <a:t>The boxplot shows the distribution of maximum prices after removing outliers. The median price is around 2000 Rs/Quintal. The box is shorter, indicating a narrower range for the middle 50% of prices. This suggests that outliers significantly influenced the overall spread of the data. The distribution appears less skewed compared to the boxplot with outliers.</a:t>
            </a:r>
          </a:p>
          <a:p>
            <a:endParaRPr lang="en-IN" dirty="0"/>
          </a:p>
        </p:txBody>
      </p:sp>
      <p:pic>
        <p:nvPicPr>
          <p:cNvPr id="8" name="Picture 7">
            <a:extLst>
              <a:ext uri="{FF2B5EF4-FFF2-40B4-BE49-F238E27FC236}">
                <a16:creationId xmlns:a16="http://schemas.microsoft.com/office/drawing/2014/main" id="{7FA117C5-9C10-DDFA-E855-09BFE48AB7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64724" y="1046095"/>
            <a:ext cx="8732773" cy="3427051"/>
          </a:xfrm>
          <a:prstGeom prst="rect">
            <a:avLst/>
          </a:prstGeom>
          <a:noFill/>
          <a:ln>
            <a:solidFill>
              <a:schemeClr val="tx1"/>
            </a:solidFill>
          </a:ln>
        </p:spPr>
      </p:pic>
    </p:spTree>
    <p:extLst>
      <p:ext uri="{BB962C8B-B14F-4D97-AF65-F5344CB8AC3E}">
        <p14:creationId xmlns:p14="http://schemas.microsoft.com/office/powerpoint/2010/main" val="638310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1353" y="286764"/>
            <a:ext cx="7365231" cy="683580"/>
          </a:xfrm>
        </p:spPr>
        <p:txBody>
          <a:bodyPr>
            <a:normAutofit/>
          </a:bodyPr>
          <a:lstStyle/>
          <a:p>
            <a:pPr algn="ctr"/>
            <a:r>
              <a:rPr lang="en-IN" sz="2400" b="1" kern="100" dirty="0">
                <a:effectLst/>
                <a:latin typeface="+mn-lt"/>
                <a:ea typeface="Calibri" panose="020F0502020204030204" pitchFamily="34" charset="0"/>
                <a:cs typeface="Times New Roman" panose="02020603050405020304" pitchFamily="18" charset="0"/>
              </a:rPr>
              <a:t>Boxplot For Modal Prices (Pune)</a:t>
            </a:r>
            <a:endParaRPr lang="en-IN" sz="2400" dirty="0"/>
          </a:p>
        </p:txBody>
      </p:sp>
      <p:sp>
        <p:nvSpPr>
          <p:cNvPr id="5" name="Slide Number Placeholder 4">
            <a:extLst>
              <a:ext uri="{FF2B5EF4-FFF2-40B4-BE49-F238E27FC236}">
                <a16:creationId xmlns:a16="http://schemas.microsoft.com/office/drawing/2014/main" id="{F45F150A-47E7-44AE-CE6F-25715875BBDF}"/>
              </a:ext>
            </a:extLst>
          </p:cNvPr>
          <p:cNvSpPr>
            <a:spLocks noGrp="1"/>
          </p:cNvSpPr>
          <p:nvPr>
            <p:ph type="sldNum" sz="quarter" idx="12"/>
          </p:nvPr>
        </p:nvSpPr>
        <p:spPr/>
        <p:txBody>
          <a:bodyPr/>
          <a:lstStyle/>
          <a:p>
            <a:fld id="{0D3E3056-22A3-4E2C-9164-3EEDF19BB457}" type="slidenum">
              <a:rPr lang="en-IN" smtClean="0"/>
              <a:t>22</a:t>
            </a:fld>
            <a:endParaRPr lang="en-IN" dirty="0"/>
          </a:p>
        </p:txBody>
      </p:sp>
      <p:sp>
        <p:nvSpPr>
          <p:cNvPr id="7" name="Content Placeholder 6">
            <a:extLst>
              <a:ext uri="{FF2B5EF4-FFF2-40B4-BE49-F238E27FC236}">
                <a16:creationId xmlns:a16="http://schemas.microsoft.com/office/drawing/2014/main" id="{FA0A1933-9409-7776-3505-237155E72ECE}"/>
              </a:ext>
            </a:extLst>
          </p:cNvPr>
          <p:cNvSpPr>
            <a:spLocks noGrp="1"/>
          </p:cNvSpPr>
          <p:nvPr>
            <p:ph idx="1"/>
          </p:nvPr>
        </p:nvSpPr>
        <p:spPr>
          <a:xfrm>
            <a:off x="1311579" y="4725082"/>
            <a:ext cx="9405582" cy="1846153"/>
          </a:xfrm>
        </p:spPr>
        <p:txBody>
          <a:bodyPr>
            <a:normAutofit fontScale="85000" lnSpcReduction="20000"/>
          </a:bodyPr>
          <a:lstStyle/>
          <a:p>
            <a:r>
              <a:rPr lang="en-US" dirty="0"/>
              <a:t>The boxplot shows the distribution of modal onion prices, including outliers. The median price is around 1000 Rs/Quintal. Most prices are clustered lower, while several outliers indicate significantly higher modal prices. This suggests a right-skewed distribution, with a longer tail on the right side.</a:t>
            </a:r>
          </a:p>
          <a:p>
            <a:r>
              <a:rPr lang="en-US" dirty="0"/>
              <a:t>The boxplot shows the distribution of modal prices after removing outliers. The median price remains around 1000 Rs/Quintal. The box is shorter, indicating a narrower range for the middle 50% of prices. This suggests that outliers significantly influenced the overall spread of the data, likely reducing the right-skewness of the distribution.</a:t>
            </a:r>
            <a:endParaRPr lang="en-IN" dirty="0"/>
          </a:p>
        </p:txBody>
      </p:sp>
      <p:pic>
        <p:nvPicPr>
          <p:cNvPr id="8" name="Picture 7">
            <a:extLst>
              <a:ext uri="{FF2B5EF4-FFF2-40B4-BE49-F238E27FC236}">
                <a16:creationId xmlns:a16="http://schemas.microsoft.com/office/drawing/2014/main" id="{1587DAB5-99DC-BE53-5AF1-4A74A9AC5F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1579" y="1152908"/>
            <a:ext cx="9405582" cy="3011320"/>
          </a:xfrm>
          <a:prstGeom prst="rect">
            <a:avLst/>
          </a:prstGeom>
          <a:noFill/>
          <a:ln>
            <a:solidFill>
              <a:schemeClr val="tx1"/>
            </a:solidFill>
          </a:ln>
        </p:spPr>
      </p:pic>
    </p:spTree>
    <p:extLst>
      <p:ext uri="{BB962C8B-B14F-4D97-AF65-F5344CB8AC3E}">
        <p14:creationId xmlns:p14="http://schemas.microsoft.com/office/powerpoint/2010/main" val="3452691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795CEF-3F1E-904B-2163-74EFDEA27703}"/>
              </a:ext>
            </a:extLst>
          </p:cNvPr>
          <p:cNvSpPr>
            <a:spLocks noGrp="1"/>
          </p:cNvSpPr>
          <p:nvPr>
            <p:ph type="sldNum" sz="quarter" idx="12"/>
          </p:nvPr>
        </p:nvSpPr>
        <p:spPr/>
        <p:txBody>
          <a:bodyPr/>
          <a:lstStyle/>
          <a:p>
            <a:fld id="{0D3E3056-22A3-4E2C-9164-3EEDF19BB457}" type="slidenum">
              <a:rPr lang="en-IN" smtClean="0"/>
              <a:t>23</a:t>
            </a:fld>
            <a:endParaRPr lang="en-IN" dirty="0"/>
          </a:p>
        </p:txBody>
      </p:sp>
      <p:pic>
        <p:nvPicPr>
          <p:cNvPr id="4" name="Picture 3">
            <a:extLst>
              <a:ext uri="{FF2B5EF4-FFF2-40B4-BE49-F238E27FC236}">
                <a16:creationId xmlns:a16="http://schemas.microsoft.com/office/drawing/2014/main" id="{7F9D75D6-0566-8782-B3E7-3ACDDEEF7C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4633" y="1241051"/>
            <a:ext cx="5731341" cy="3586242"/>
          </a:xfrm>
          <a:prstGeom prst="rect">
            <a:avLst/>
          </a:prstGeom>
          <a:noFill/>
          <a:ln>
            <a:solidFill>
              <a:schemeClr val="tx1"/>
            </a:solidFill>
          </a:ln>
        </p:spPr>
      </p:pic>
      <p:pic>
        <p:nvPicPr>
          <p:cNvPr id="6" name="Picture 5">
            <a:extLst>
              <a:ext uri="{FF2B5EF4-FFF2-40B4-BE49-F238E27FC236}">
                <a16:creationId xmlns:a16="http://schemas.microsoft.com/office/drawing/2014/main" id="{B5B28A0C-89B4-C8CE-CFE6-3B8F7F26F4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71839" y="1241051"/>
            <a:ext cx="5405527" cy="3586241"/>
          </a:xfrm>
          <a:prstGeom prst="rect">
            <a:avLst/>
          </a:prstGeom>
          <a:noFill/>
          <a:ln>
            <a:solidFill>
              <a:schemeClr val="tx1"/>
            </a:solidFill>
          </a:ln>
        </p:spPr>
      </p:pic>
      <p:sp>
        <p:nvSpPr>
          <p:cNvPr id="8" name="TextBox 7">
            <a:extLst>
              <a:ext uri="{FF2B5EF4-FFF2-40B4-BE49-F238E27FC236}">
                <a16:creationId xmlns:a16="http://schemas.microsoft.com/office/drawing/2014/main" id="{872CF08D-C9F5-CD39-19B3-19E6A6CA0A51}"/>
              </a:ext>
            </a:extLst>
          </p:cNvPr>
          <p:cNvSpPr txBox="1"/>
          <p:nvPr/>
        </p:nvSpPr>
        <p:spPr>
          <a:xfrm>
            <a:off x="2998839" y="324240"/>
            <a:ext cx="6577780" cy="468077"/>
          </a:xfrm>
          <a:prstGeom prst="rect">
            <a:avLst/>
          </a:prstGeom>
          <a:noFill/>
        </p:spPr>
        <p:txBody>
          <a:bodyPr wrap="square">
            <a:spAutoFit/>
          </a:bodyPr>
          <a:lstStyle/>
          <a:p>
            <a:pPr>
              <a:lnSpc>
                <a:spcPct val="107000"/>
              </a:lnSpc>
              <a:spcAft>
                <a:spcPts val="800"/>
              </a:spcAft>
              <a:tabLst>
                <a:tab pos="481584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Top 3 Markets with Maximum Minimum Prices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1ACF4E2-35D0-AF63-635B-59167F9E9D08}"/>
              </a:ext>
            </a:extLst>
          </p:cNvPr>
          <p:cNvSpPr txBox="1"/>
          <p:nvPr/>
        </p:nvSpPr>
        <p:spPr>
          <a:xfrm>
            <a:off x="1311579" y="5056432"/>
            <a:ext cx="10838985" cy="1323439"/>
          </a:xfrm>
          <a:prstGeom prst="rect">
            <a:avLst/>
          </a:prstGeom>
          <a:noFill/>
        </p:spPr>
        <p:txBody>
          <a:bodyPr wrap="square">
            <a:spAutoFit/>
          </a:bodyPr>
          <a:lstStyle/>
          <a:p>
            <a:r>
              <a:rPr lang="en-US" sz="1600" dirty="0"/>
              <a:t>1)The plot reveals that </a:t>
            </a:r>
            <a:r>
              <a:rPr lang="en-US" sz="1600" b="1" dirty="0"/>
              <a:t>Junnar(Alephata) </a:t>
            </a:r>
            <a:r>
              <a:rPr lang="en-US" sz="1600" dirty="0"/>
              <a:t>exhibits the highest maximum onion price at approximately 105,000 Rs/Quintal, followed by Junnar at 16,000 Rs/Quintal.</a:t>
            </a:r>
          </a:p>
          <a:p>
            <a:endParaRPr lang="en-US" sz="1600" dirty="0"/>
          </a:p>
          <a:p>
            <a:r>
              <a:rPr lang="en-US" sz="1600" dirty="0"/>
              <a:t>2)The plot illustrates the top 3 markets with the minimum onion prices, with </a:t>
            </a:r>
            <a:r>
              <a:rPr lang="en-US" sz="1600" b="1" dirty="0"/>
              <a:t>Junnar(Narayangaon) </a:t>
            </a:r>
            <a:r>
              <a:rPr lang="en-US" sz="1600" dirty="0"/>
              <a:t>at 4 Rs/Quintal,</a:t>
            </a:r>
            <a:r>
              <a:rPr lang="en-US" sz="1600" b="1" dirty="0"/>
              <a:t> Indapur </a:t>
            </a:r>
            <a:r>
              <a:rPr lang="en-US" sz="1600" dirty="0"/>
              <a:t>at 15 Rs/Quintal, and </a:t>
            </a:r>
            <a:r>
              <a:rPr lang="en-US" sz="1600" b="1" dirty="0"/>
              <a:t>Khed(Chakan) </a:t>
            </a:r>
            <a:r>
              <a:rPr lang="en-US" sz="1600" dirty="0"/>
              <a:t>at 17 Rs/Quintal.</a:t>
            </a:r>
            <a:endParaRPr lang="en-IN" sz="1600" dirty="0"/>
          </a:p>
        </p:txBody>
      </p:sp>
    </p:spTree>
    <p:extLst>
      <p:ext uri="{BB962C8B-B14F-4D97-AF65-F5344CB8AC3E}">
        <p14:creationId xmlns:p14="http://schemas.microsoft.com/office/powerpoint/2010/main" val="664114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186F-CDA9-92A8-D090-B5E5B413EA38}"/>
              </a:ext>
            </a:extLst>
          </p:cNvPr>
          <p:cNvSpPr>
            <a:spLocks noGrp="1"/>
          </p:cNvSpPr>
          <p:nvPr>
            <p:ph type="ctrTitle"/>
          </p:nvPr>
        </p:nvSpPr>
        <p:spPr>
          <a:xfrm>
            <a:off x="186813" y="587431"/>
            <a:ext cx="5663381" cy="779879"/>
          </a:xfrm>
        </p:spPr>
        <p:txBody>
          <a:bodyPr>
            <a:normAutofit fontScale="90000"/>
          </a:bodyPr>
          <a:lstStyle/>
          <a:p>
            <a:r>
              <a:rPr lang="en-IN" sz="2200" b="1" kern="100" dirty="0">
                <a:effectLst/>
                <a:latin typeface="+mn-lt"/>
                <a:ea typeface="Calibri" panose="020F0502020204030204" pitchFamily="34" charset="0"/>
                <a:cs typeface="Times New Roman" panose="02020603050405020304" pitchFamily="18" charset="0"/>
              </a:rPr>
              <a:t>Bar Plot  Calculate counts and percentages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000" dirty="0"/>
          </a:p>
        </p:txBody>
      </p:sp>
      <p:sp>
        <p:nvSpPr>
          <p:cNvPr id="3" name="Subtitle 2">
            <a:extLst>
              <a:ext uri="{FF2B5EF4-FFF2-40B4-BE49-F238E27FC236}">
                <a16:creationId xmlns:a16="http://schemas.microsoft.com/office/drawing/2014/main" id="{5B9AE8F9-A61A-AD2D-BD92-A7FC68AF0DA9}"/>
              </a:ext>
            </a:extLst>
          </p:cNvPr>
          <p:cNvSpPr>
            <a:spLocks noGrp="1"/>
          </p:cNvSpPr>
          <p:nvPr>
            <p:ph type="subTitle" idx="1"/>
          </p:nvPr>
        </p:nvSpPr>
        <p:spPr>
          <a:xfrm>
            <a:off x="1255243" y="5259393"/>
            <a:ext cx="9346854" cy="1302045"/>
          </a:xfrm>
        </p:spPr>
        <p:txBody>
          <a:bodyPr>
            <a:normAutofit fontScale="92500" lnSpcReduction="10000"/>
          </a:bodyPr>
          <a:lstStyle/>
          <a:p>
            <a:pPr algn="l"/>
            <a:r>
              <a:rPr lang="en-US" sz="1600" b="1" dirty="0"/>
              <a:t>1)The plot shows that Local variety of onions constitutes 61.9% of the total, followed by Other variety at 36.2%, and Red variety at a negligible 1.9%.</a:t>
            </a:r>
          </a:p>
          <a:p>
            <a:pPr algn="l"/>
            <a:r>
              <a:rPr lang="en-US" sz="1600" b="1" dirty="0"/>
              <a:t>2)The boxplots show that "Local" onions generally have the lowest minimum and maximum prices compared to "Other" and "Red" varieties. The "Red" variety exhibits the widest range of prices, with some having very high maximum prices.</a:t>
            </a:r>
            <a:endParaRPr lang="en-IN" sz="1600" b="1" dirty="0"/>
          </a:p>
        </p:txBody>
      </p:sp>
      <p:sp>
        <p:nvSpPr>
          <p:cNvPr id="4" name="Slide Number Placeholder 3">
            <a:extLst>
              <a:ext uri="{FF2B5EF4-FFF2-40B4-BE49-F238E27FC236}">
                <a16:creationId xmlns:a16="http://schemas.microsoft.com/office/drawing/2014/main" id="{B29CFFF7-BE22-1163-2666-BA2EF2DDAEC1}"/>
              </a:ext>
            </a:extLst>
          </p:cNvPr>
          <p:cNvSpPr>
            <a:spLocks noGrp="1"/>
          </p:cNvSpPr>
          <p:nvPr>
            <p:ph type="sldNum" sz="quarter" idx="12"/>
          </p:nvPr>
        </p:nvSpPr>
        <p:spPr/>
        <p:txBody>
          <a:bodyPr/>
          <a:lstStyle/>
          <a:p>
            <a:fld id="{0D3E3056-22A3-4E2C-9164-3EEDF19BB457}" type="slidenum">
              <a:rPr lang="en-IN" smtClean="0"/>
              <a:t>24</a:t>
            </a:fld>
            <a:endParaRPr lang="en-IN" dirty="0"/>
          </a:p>
        </p:txBody>
      </p:sp>
      <p:pic>
        <p:nvPicPr>
          <p:cNvPr id="5" name="Picture 4">
            <a:extLst>
              <a:ext uri="{FF2B5EF4-FFF2-40B4-BE49-F238E27FC236}">
                <a16:creationId xmlns:a16="http://schemas.microsoft.com/office/drawing/2014/main" id="{65266658-66FE-5BD2-DD4C-15A1FC757A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515" y="1465006"/>
            <a:ext cx="5229891" cy="3621695"/>
          </a:xfrm>
          <a:prstGeom prst="rect">
            <a:avLst/>
          </a:prstGeom>
          <a:noFill/>
          <a:ln>
            <a:solidFill>
              <a:schemeClr val="tx1"/>
            </a:solidFill>
          </a:ln>
        </p:spPr>
      </p:pic>
      <p:pic>
        <p:nvPicPr>
          <p:cNvPr id="6" name="Picture 5">
            <a:extLst>
              <a:ext uri="{FF2B5EF4-FFF2-40B4-BE49-F238E27FC236}">
                <a16:creationId xmlns:a16="http://schemas.microsoft.com/office/drawing/2014/main" id="{9716F1EA-5A4E-B532-FCDA-D3AD599871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38850" y="1367310"/>
            <a:ext cx="5966337" cy="3621695"/>
          </a:xfrm>
          <a:prstGeom prst="rect">
            <a:avLst/>
          </a:prstGeom>
          <a:noFill/>
          <a:ln>
            <a:solidFill>
              <a:schemeClr val="tx1"/>
            </a:solidFill>
          </a:ln>
        </p:spPr>
      </p:pic>
      <p:sp>
        <p:nvSpPr>
          <p:cNvPr id="8" name="TextBox 7">
            <a:extLst>
              <a:ext uri="{FF2B5EF4-FFF2-40B4-BE49-F238E27FC236}">
                <a16:creationId xmlns:a16="http://schemas.microsoft.com/office/drawing/2014/main" id="{0D2B0A01-05FA-224E-311B-12A5B018BC77}"/>
              </a:ext>
            </a:extLst>
          </p:cNvPr>
          <p:cNvSpPr txBox="1"/>
          <p:nvPr/>
        </p:nvSpPr>
        <p:spPr>
          <a:xfrm>
            <a:off x="6341806" y="700916"/>
            <a:ext cx="5663381" cy="396006"/>
          </a:xfrm>
          <a:prstGeom prst="rect">
            <a:avLst/>
          </a:prstGeom>
          <a:noFill/>
        </p:spPr>
        <p:txBody>
          <a:bodyPr wrap="square">
            <a:spAutoFit/>
          </a:bodyPr>
          <a:lstStyle/>
          <a:p>
            <a:pPr>
              <a:lnSpc>
                <a:spcPct val="107000"/>
              </a:lnSpc>
              <a:spcAft>
                <a:spcPts val="800"/>
              </a:spcAft>
              <a:tabLst>
                <a:tab pos="4815840" algn="l"/>
              </a:tabLst>
            </a:pPr>
            <a:r>
              <a:rPr lang="en-IN" sz="2000" b="1" kern="100" dirty="0">
                <a:effectLst/>
                <a:ea typeface="Calibri" panose="020F0502020204030204" pitchFamily="34" charset="0"/>
                <a:cs typeface="Times New Roman" panose="02020603050405020304" pitchFamily="18" charset="0"/>
              </a:rPr>
              <a:t>Box Plot of Max and Min Price by Variety</a:t>
            </a:r>
            <a:endParaRPr lang="en-IN"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6793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AB04B-5D82-BD42-EF98-514899D01517}"/>
              </a:ext>
            </a:extLst>
          </p:cNvPr>
          <p:cNvSpPr>
            <a:spLocks noGrp="1"/>
          </p:cNvSpPr>
          <p:nvPr>
            <p:ph type="ctrTitle"/>
          </p:nvPr>
        </p:nvSpPr>
        <p:spPr>
          <a:xfrm>
            <a:off x="1718917" y="36977"/>
            <a:ext cx="9134168" cy="1256828"/>
          </a:xfrm>
        </p:spPr>
        <p:txBody>
          <a:bodyPr>
            <a:noAutofit/>
          </a:bodyPr>
          <a:lstStyle/>
          <a:p>
            <a:r>
              <a:rPr lang="en-US" sz="2400" b="1" dirty="0">
                <a:solidFill>
                  <a:srgbClr val="C00000"/>
                </a:solidFill>
                <a:effectLst/>
                <a:latin typeface="+mn-lt"/>
                <a:ea typeface="Calibri" panose="020F0502020204030204" pitchFamily="34" charset="0"/>
              </a:rPr>
              <a:t>Comparison of Prices &amp; Arrivals of Pre and Post Covid Period and During covid Period </a:t>
            </a:r>
            <a:br>
              <a:rPr lang="en-IN" sz="1800" dirty="0">
                <a:effectLst/>
                <a:latin typeface="Calibri" panose="020F0502020204030204" pitchFamily="34" charset="0"/>
                <a:ea typeface="Calibri" panose="020F0502020204030204" pitchFamily="34" charset="0"/>
              </a:rPr>
            </a:br>
            <a:endParaRPr lang="en-IN" sz="2800" dirty="0"/>
          </a:p>
        </p:txBody>
      </p:sp>
      <p:sp>
        <p:nvSpPr>
          <p:cNvPr id="4" name="Slide Number Placeholder 3">
            <a:extLst>
              <a:ext uri="{FF2B5EF4-FFF2-40B4-BE49-F238E27FC236}">
                <a16:creationId xmlns:a16="http://schemas.microsoft.com/office/drawing/2014/main" id="{F8DCF14E-EAA0-7A8B-5E31-896510837D86}"/>
              </a:ext>
            </a:extLst>
          </p:cNvPr>
          <p:cNvSpPr>
            <a:spLocks noGrp="1"/>
          </p:cNvSpPr>
          <p:nvPr>
            <p:ph type="sldNum" sz="quarter" idx="12"/>
          </p:nvPr>
        </p:nvSpPr>
        <p:spPr/>
        <p:txBody>
          <a:bodyPr/>
          <a:lstStyle/>
          <a:p>
            <a:fld id="{0D3E3056-22A3-4E2C-9164-3EEDF19BB457}" type="slidenum">
              <a:rPr lang="en-IN" smtClean="0"/>
              <a:t>25</a:t>
            </a:fld>
            <a:endParaRPr lang="en-IN" dirty="0"/>
          </a:p>
        </p:txBody>
      </p:sp>
      <p:sp>
        <p:nvSpPr>
          <p:cNvPr id="10" name="TextBox 9">
            <a:extLst>
              <a:ext uri="{FF2B5EF4-FFF2-40B4-BE49-F238E27FC236}">
                <a16:creationId xmlns:a16="http://schemas.microsoft.com/office/drawing/2014/main" id="{38A99335-0592-818E-6ADE-B1A39F1529B3}"/>
              </a:ext>
            </a:extLst>
          </p:cNvPr>
          <p:cNvSpPr txBox="1"/>
          <p:nvPr/>
        </p:nvSpPr>
        <p:spPr>
          <a:xfrm>
            <a:off x="2074606" y="945115"/>
            <a:ext cx="8406581" cy="1125886"/>
          </a:xfrm>
          <a:prstGeom prst="rect">
            <a:avLst/>
          </a:prstGeom>
          <a:noFill/>
        </p:spPr>
        <p:txBody>
          <a:bodyPr wrap="square">
            <a:spAutoFit/>
          </a:bodyPr>
          <a:lstStyle/>
          <a:p>
            <a:pPr>
              <a:lnSpc>
                <a:spcPct val="107000"/>
              </a:lnSpc>
              <a:spcAft>
                <a:spcPts val="800"/>
              </a:spcAft>
              <a:tabLst>
                <a:tab pos="4815840" algn="l"/>
              </a:tabLst>
            </a:pPr>
            <a:r>
              <a:rPr lang="en-IN" sz="1600" b="1" kern="100" dirty="0">
                <a:effectLst/>
                <a:ea typeface="Calibri" panose="020F0502020204030204" pitchFamily="34" charset="0"/>
                <a:cs typeface="Times New Roman" panose="02020603050405020304" pitchFamily="18" charset="0"/>
              </a:rPr>
              <a:t>We divide the whole dataset into two parts, pre covid-19 (1-1-2013 to 23-3-2020) and remaining as post covid-19 (15-6-2021 to 31-12-2024) . we compare the prices after covid and before covid. And during Covid-19 Period. Also we use Welch t test for comparison</a:t>
            </a:r>
            <a:endParaRPr lang="en-IN" sz="1400" b="1" kern="100" dirty="0">
              <a:effectLst/>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A31D188-4B84-70DC-5F57-FC6739E7F79C}"/>
              </a:ext>
            </a:extLst>
          </p:cNvPr>
          <p:cNvSpPr txBox="1"/>
          <p:nvPr/>
        </p:nvSpPr>
        <p:spPr>
          <a:xfrm>
            <a:off x="2074606" y="2116650"/>
            <a:ext cx="8652388" cy="1077218"/>
          </a:xfrm>
          <a:prstGeom prst="rect">
            <a:avLst/>
          </a:prstGeom>
          <a:noFill/>
        </p:spPr>
        <p:txBody>
          <a:bodyPr wrap="square">
            <a:spAutoFit/>
          </a:bodyPr>
          <a:lstStyle/>
          <a:p>
            <a:r>
              <a:rPr lang="en-IN" sz="1600" b="1" kern="100" dirty="0">
                <a:effectLst/>
                <a:ea typeface="Calibri" panose="020F0502020204030204" pitchFamily="34" charset="0"/>
                <a:cs typeface="Times New Roman" panose="02020603050405020304" pitchFamily="18" charset="0"/>
              </a:rPr>
              <a:t>In Maharashtra, the lockdown periods during the COVID-19 pandemic were as follows:</a:t>
            </a:r>
            <a:endParaRPr lang="en-IN" sz="1400" b="1" kern="100" dirty="0">
              <a:effectLst/>
              <a:ea typeface="Calibri" panose="020F0502020204030204" pitchFamily="34" charset="0"/>
              <a:cs typeface="Times New Roman" panose="02020603050405020304" pitchFamily="18" charset="0"/>
            </a:endParaRPr>
          </a:p>
          <a:p>
            <a:r>
              <a:rPr lang="en-IN" sz="1600" b="1" kern="100" dirty="0">
                <a:effectLst/>
                <a:ea typeface="Calibri" panose="020F0502020204030204" pitchFamily="34" charset="0"/>
                <a:cs typeface="Times New Roman" panose="02020603050405020304" pitchFamily="18" charset="0"/>
              </a:rPr>
              <a:t>First Lockdown: March 23, 2020 – June 1, 2020</a:t>
            </a:r>
            <a:endParaRPr lang="en-IN" sz="1400" b="1" kern="100" dirty="0">
              <a:effectLst/>
              <a:ea typeface="Calibri" panose="020F0502020204030204" pitchFamily="34" charset="0"/>
              <a:cs typeface="Times New Roman" panose="02020603050405020304" pitchFamily="18" charset="0"/>
            </a:endParaRPr>
          </a:p>
          <a:p>
            <a:r>
              <a:rPr lang="en-IN" sz="1600" b="1" kern="100" dirty="0">
                <a:effectLst/>
                <a:ea typeface="Calibri" panose="020F0502020204030204" pitchFamily="34" charset="0"/>
                <a:cs typeface="Times New Roman" panose="02020603050405020304" pitchFamily="18" charset="0"/>
              </a:rPr>
              <a:t>Second Lockdown: April 15, 2021 – June 15, 2021</a:t>
            </a:r>
            <a:endParaRPr lang="en-IN" sz="1400" b="1" kern="100" dirty="0">
              <a:effectLst/>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1859BC5F-23BD-3FA9-7CE4-870DC7C830C1}"/>
              </a:ext>
            </a:extLst>
          </p:cNvPr>
          <p:cNvSpPr txBox="1"/>
          <p:nvPr/>
        </p:nvSpPr>
        <p:spPr>
          <a:xfrm>
            <a:off x="2074606" y="3429000"/>
            <a:ext cx="8770374" cy="2923877"/>
          </a:xfrm>
          <a:prstGeom prst="rect">
            <a:avLst/>
          </a:prstGeom>
          <a:noFill/>
        </p:spPr>
        <p:txBody>
          <a:bodyPr wrap="square">
            <a:spAutoFit/>
          </a:bodyPr>
          <a:lstStyle/>
          <a:p>
            <a:r>
              <a:rPr lang="en-IN" b="1" u="sng" kern="100" dirty="0">
                <a:effectLst/>
                <a:ea typeface="Calibri" panose="020F0502020204030204" pitchFamily="34" charset="0"/>
                <a:cs typeface="Times New Roman" panose="02020603050405020304" pitchFamily="18" charset="0"/>
              </a:rPr>
              <a:t>Welch’s t-test: </a:t>
            </a:r>
          </a:p>
          <a:p>
            <a:endParaRPr lang="en-IN" b="1" u="sng" kern="100" dirty="0">
              <a:effectLst/>
              <a:ea typeface="Calibri" panose="020F0502020204030204" pitchFamily="34" charset="0"/>
              <a:cs typeface="Times New Roman" panose="02020603050405020304" pitchFamily="18" charset="0"/>
            </a:endParaRPr>
          </a:p>
          <a:p>
            <a:r>
              <a:rPr lang="en-IN" sz="1600" b="1" kern="100" dirty="0">
                <a:effectLst/>
                <a:ea typeface="Calibri" panose="020F0502020204030204" pitchFamily="34" charset="0"/>
                <a:cs typeface="Times New Roman" panose="02020603050405020304" pitchFamily="18" charset="0"/>
              </a:rPr>
              <a:t>Welch’s t-test is a statistical method used to compare the means of two independent groups when the assumption of equal variances (homoscedasticity) is violated. Unlike the traditional Student’s t-test, Welch’s t-test is more robust as it does not require the variances of the two groups to be equal. This makes it particularly useful in real-world scenarios where group variances and sample sizes often differ.</a:t>
            </a:r>
          </a:p>
          <a:p>
            <a:endParaRPr lang="en-IN" sz="1600" b="1" kern="100" dirty="0">
              <a:ea typeface="Calibri" panose="020F0502020204030204" pitchFamily="34" charset="0"/>
              <a:cs typeface="Times New Roman" panose="02020603050405020304" pitchFamily="18" charset="0"/>
            </a:endParaRPr>
          </a:p>
          <a:p>
            <a:pPr lvl="0">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Hypotheses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100" kern="100" dirty="0">
              <a:latin typeface="Calibri" panose="020F0502020204030204" pitchFamily="34" charset="0"/>
              <a:ea typeface="Calibri" panose="020F0502020204030204" pitchFamily="34" charset="0"/>
              <a:cs typeface="Times New Roman" panose="02020603050405020304" pitchFamily="18" charset="0"/>
            </a:endParaRPr>
          </a:p>
          <a:p>
            <a:pPr lvl="0">
              <a:tabLst>
                <a:tab pos="457200" algn="l"/>
              </a:tabLs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Null Hypothesis (H0​): There is no difference in the population means </a:t>
            </a:r>
            <a:endParaRPr lang="en-IN" sz="1100" b="1"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b="1" dirty="0">
                <a:effectLst/>
                <a:latin typeface="Times New Roman" panose="02020603050405020304" pitchFamily="18" charset="0"/>
                <a:ea typeface="Calibri" panose="020F0502020204030204" pitchFamily="34" charset="0"/>
              </a:rPr>
              <a:t>                    Alternative Hypothesis (Ha​): There is a difference in the population means </a:t>
            </a:r>
          </a:p>
          <a:p>
            <a:r>
              <a:rPr lang="en-IN" sz="1200" b="1" kern="100" dirty="0">
                <a:latin typeface="Times New Roman" panose="02020603050405020304" pitchFamily="18" charset="0"/>
                <a:ea typeface="Calibri" panose="020F0502020204030204" pitchFamily="34" charset="0"/>
                <a:cs typeface="Times New Roman" panose="02020603050405020304" pitchFamily="18" charset="0"/>
              </a:rPr>
              <a:t>We reject null hypothesis when p value &lt;0.05</a:t>
            </a:r>
            <a:endParaRPr lang="en-IN" sz="1600" b="1"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14261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EE45-5633-F1D7-45F3-F5CCB07A935E}"/>
              </a:ext>
            </a:extLst>
          </p:cNvPr>
          <p:cNvSpPr>
            <a:spLocks noGrp="1"/>
          </p:cNvSpPr>
          <p:nvPr>
            <p:ph type="title"/>
          </p:nvPr>
        </p:nvSpPr>
        <p:spPr>
          <a:xfrm>
            <a:off x="2133600" y="191490"/>
            <a:ext cx="8731915" cy="683581"/>
          </a:xfrm>
        </p:spPr>
        <p:txBody>
          <a:bodyPr>
            <a:noAutofit/>
          </a:bodyPr>
          <a:lstStyle/>
          <a:p>
            <a:r>
              <a:rPr lang="en-IN" sz="2000" b="1" kern="100" dirty="0">
                <a:effectLst/>
                <a:latin typeface="+mn-lt"/>
                <a:ea typeface="Calibri" panose="020F0502020204030204" pitchFamily="34" charset="0"/>
                <a:cs typeface="Times New Roman" panose="02020603050405020304" pitchFamily="18" charset="0"/>
              </a:rPr>
              <a:t>Boxplots of Onion Prices &amp; Arrivals  Before, During, and After Covid-19</a:t>
            </a:r>
            <a:endParaRPr lang="en-IN" sz="2000" kern="100" dirty="0">
              <a:effectLst/>
              <a:latin typeface="+mn-l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E0A1873-57E6-438D-F560-026BA9D0C82D}"/>
              </a:ext>
            </a:extLst>
          </p:cNvPr>
          <p:cNvSpPr>
            <a:spLocks noGrp="1"/>
          </p:cNvSpPr>
          <p:nvPr>
            <p:ph type="sldNum" sz="quarter" idx="12"/>
          </p:nvPr>
        </p:nvSpPr>
        <p:spPr/>
        <p:txBody>
          <a:bodyPr/>
          <a:lstStyle/>
          <a:p>
            <a:fld id="{0D3E3056-22A3-4E2C-9164-3EEDF19BB457}" type="slidenum">
              <a:rPr lang="en-IN" smtClean="0"/>
              <a:t>26</a:t>
            </a:fld>
            <a:endParaRPr lang="en-IN" dirty="0"/>
          </a:p>
        </p:txBody>
      </p:sp>
      <p:pic>
        <p:nvPicPr>
          <p:cNvPr id="7" name="Picture 6">
            <a:extLst>
              <a:ext uri="{FF2B5EF4-FFF2-40B4-BE49-F238E27FC236}">
                <a16:creationId xmlns:a16="http://schemas.microsoft.com/office/drawing/2014/main" id="{61AC167B-44C9-8789-71E3-53CE3DF1D939}"/>
              </a:ext>
            </a:extLst>
          </p:cNvPr>
          <p:cNvPicPr>
            <a:picLocks noChangeAspect="1"/>
          </p:cNvPicPr>
          <p:nvPr/>
        </p:nvPicPr>
        <p:blipFill>
          <a:blip r:embed="rId3"/>
          <a:stretch>
            <a:fillRect/>
          </a:stretch>
        </p:blipFill>
        <p:spPr>
          <a:xfrm>
            <a:off x="144594" y="1288102"/>
            <a:ext cx="5782310" cy="2678417"/>
          </a:xfrm>
          <a:prstGeom prst="rect">
            <a:avLst/>
          </a:prstGeom>
          <a:ln>
            <a:solidFill>
              <a:schemeClr val="tx1"/>
            </a:solidFill>
          </a:ln>
        </p:spPr>
      </p:pic>
      <p:pic>
        <p:nvPicPr>
          <p:cNvPr id="8" name="Picture 7">
            <a:extLst>
              <a:ext uri="{FF2B5EF4-FFF2-40B4-BE49-F238E27FC236}">
                <a16:creationId xmlns:a16="http://schemas.microsoft.com/office/drawing/2014/main" id="{50F20372-51C0-51C8-1670-54B3BD76E9D9}"/>
              </a:ext>
            </a:extLst>
          </p:cNvPr>
          <p:cNvPicPr>
            <a:picLocks noChangeAspect="1"/>
          </p:cNvPicPr>
          <p:nvPr/>
        </p:nvPicPr>
        <p:blipFill>
          <a:blip r:embed="rId4"/>
          <a:stretch>
            <a:fillRect/>
          </a:stretch>
        </p:blipFill>
        <p:spPr>
          <a:xfrm>
            <a:off x="6299660" y="1288102"/>
            <a:ext cx="5577708" cy="2678417"/>
          </a:xfrm>
          <a:prstGeom prst="rect">
            <a:avLst/>
          </a:prstGeom>
          <a:ln>
            <a:solidFill>
              <a:schemeClr val="tx1"/>
            </a:solidFill>
          </a:ln>
        </p:spPr>
      </p:pic>
      <p:sp>
        <p:nvSpPr>
          <p:cNvPr id="3" name="TextBox 2">
            <a:extLst>
              <a:ext uri="{FF2B5EF4-FFF2-40B4-BE49-F238E27FC236}">
                <a16:creationId xmlns:a16="http://schemas.microsoft.com/office/drawing/2014/main" id="{1C83262A-5EC4-752C-726F-A8BAB4954C99}"/>
              </a:ext>
            </a:extLst>
          </p:cNvPr>
          <p:cNvSpPr txBox="1"/>
          <p:nvPr/>
        </p:nvSpPr>
        <p:spPr>
          <a:xfrm>
            <a:off x="654908" y="4287795"/>
            <a:ext cx="10602097" cy="2585323"/>
          </a:xfrm>
          <a:prstGeom prst="rect">
            <a:avLst/>
          </a:prstGeom>
          <a:noFill/>
        </p:spPr>
        <p:txBody>
          <a:bodyPr wrap="square" rtlCol="0">
            <a:spAutoFit/>
          </a:bodyPr>
          <a:lstStyle/>
          <a:p>
            <a:pPr marL="342900" indent="-342900">
              <a:buAutoNum type="arabicPeriod"/>
            </a:pPr>
            <a:r>
              <a:rPr lang="en-US" sz="1400" b="1" dirty="0"/>
              <a:t>The boxplot shows that onion prices increased steadily across the three periods. </a:t>
            </a:r>
            <a:r>
              <a:rPr lang="en-US" sz="1400" b="1" u="sng" dirty="0"/>
              <a:t>Pre-COVID prices </a:t>
            </a:r>
            <a:r>
              <a:rPr lang="en-US" sz="1400" b="1" dirty="0"/>
              <a:t>were the lowest with high variability and extreme outliers. </a:t>
            </a:r>
            <a:r>
              <a:rPr lang="en-US" sz="1400" b="1" u="sng" dirty="0"/>
              <a:t>During COVID</a:t>
            </a:r>
            <a:r>
              <a:rPr lang="en-US" sz="1400" b="1" dirty="0"/>
              <a:t>, prices rose significantly, showing moderate variability. Post-COVID prices were the highest with slightly reduced variability. This comparison highlights a consistent upward trend, reflecting disruptions and market adjustments over time.</a:t>
            </a:r>
          </a:p>
          <a:p>
            <a:pPr marL="342900" indent="-342900">
              <a:buAutoNum type="arabicPeriod"/>
            </a:pPr>
            <a:endParaRPr lang="en-US" sz="1400" b="1" dirty="0"/>
          </a:p>
          <a:p>
            <a:pPr marL="342900" indent="-342900">
              <a:buAutoNum type="arabicPeriod"/>
            </a:pPr>
            <a:r>
              <a:rPr lang="en-US" sz="1400" b="1" dirty="0"/>
              <a:t>The boxplot shows onion arrivals (in tonnes) across the three periods. Pre-COVID arrivals were the most variable, with high values and extreme outliers. During COVID, arrivals slightly increased with moderate variability. Post-COVID, arrivals declined significantly with reduced variability. This comparison highlights a decrease in arrivals from pre-COVID to post-COVID, likely reflecting supply chain disruptions and market constraints during and after COVID.</a:t>
            </a:r>
          </a:p>
          <a:p>
            <a:pPr marL="342900" indent="-342900">
              <a:buAutoNum type="arabicPeriod"/>
            </a:pPr>
            <a:endParaRPr lang="en-US" dirty="0"/>
          </a:p>
          <a:p>
            <a:pPr marL="342900" indent="-342900">
              <a:buAutoNum type="arabicPeriod"/>
            </a:pPr>
            <a:endParaRPr lang="en-IN" dirty="0"/>
          </a:p>
        </p:txBody>
      </p:sp>
    </p:spTree>
    <p:extLst>
      <p:ext uri="{BB962C8B-B14F-4D97-AF65-F5344CB8AC3E}">
        <p14:creationId xmlns:p14="http://schemas.microsoft.com/office/powerpoint/2010/main" val="2478736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A094ED-69BA-DDE3-4426-010BAD917BE6}"/>
              </a:ext>
            </a:extLst>
          </p:cNvPr>
          <p:cNvSpPr>
            <a:spLocks noGrp="1"/>
          </p:cNvSpPr>
          <p:nvPr>
            <p:ph type="sldNum" sz="quarter" idx="12"/>
          </p:nvPr>
        </p:nvSpPr>
        <p:spPr/>
        <p:txBody>
          <a:bodyPr/>
          <a:lstStyle/>
          <a:p>
            <a:fld id="{0D3E3056-22A3-4E2C-9164-3EEDF19BB457}" type="slidenum">
              <a:rPr lang="en-IN" smtClean="0"/>
              <a:t>27</a:t>
            </a:fld>
            <a:endParaRPr lang="en-IN" dirty="0"/>
          </a:p>
        </p:txBody>
      </p:sp>
      <p:sp>
        <p:nvSpPr>
          <p:cNvPr id="8" name="TextBox 7">
            <a:extLst>
              <a:ext uri="{FF2B5EF4-FFF2-40B4-BE49-F238E27FC236}">
                <a16:creationId xmlns:a16="http://schemas.microsoft.com/office/drawing/2014/main" id="{B395CFF5-701C-BBC8-162B-104D69060D7C}"/>
              </a:ext>
            </a:extLst>
          </p:cNvPr>
          <p:cNvSpPr txBox="1"/>
          <p:nvPr/>
        </p:nvSpPr>
        <p:spPr>
          <a:xfrm>
            <a:off x="1887793" y="1004588"/>
            <a:ext cx="9596283" cy="2264915"/>
          </a:xfrm>
          <a:prstGeom prst="rect">
            <a:avLst/>
          </a:prstGeom>
          <a:noFill/>
        </p:spPr>
        <p:txBody>
          <a:bodyPr wrap="square">
            <a:spAutoFit/>
          </a:bodyPr>
          <a:lstStyle/>
          <a:p>
            <a:pPr>
              <a:lnSpc>
                <a:spcPct val="107000"/>
              </a:lnSpc>
              <a:spcAft>
                <a:spcPts val="800"/>
              </a:spcAft>
              <a:tabLst>
                <a:tab pos="4815840" algn="l"/>
              </a:tabLst>
            </a:pPr>
            <a:r>
              <a:rPr lang="en-IN" sz="1600" b="1" u="sng" kern="100" dirty="0">
                <a:effectLst/>
                <a:ea typeface="Calibri" panose="020F0502020204030204" pitchFamily="34" charset="0"/>
                <a:cs typeface="Times New Roman" panose="02020603050405020304" pitchFamily="18" charset="0"/>
              </a:rPr>
              <a:t>T-Test: During COVID vs Pre-COVID  </a:t>
            </a:r>
          </a:p>
          <a:p>
            <a:pPr>
              <a:lnSpc>
                <a:spcPct val="107000"/>
              </a:lnSpc>
              <a:spcAft>
                <a:spcPts val="800"/>
              </a:spcAft>
              <a:tabLst>
                <a:tab pos="4815840" algn="l"/>
              </a:tabLst>
            </a:pPr>
            <a:r>
              <a:rPr lang="en-IN" sz="1400" b="1" kern="100" dirty="0">
                <a:effectLst/>
                <a:ea typeface="Calibri" panose="020F0502020204030204" pitchFamily="34" charset="0"/>
                <a:cs typeface="Times New Roman" panose="02020603050405020304" pitchFamily="18" charset="0"/>
              </a:rPr>
              <a:t>The mean onion price during COVID (₹1454/quintal) was significantly higher than pre-COVID (₹1152/quintal). p-value is  &lt; 2.2e-16, indicating a statistically significant difference.  COVID had a significant impact, leading to a price increase. </a:t>
            </a:r>
          </a:p>
          <a:p>
            <a:pPr>
              <a:lnSpc>
                <a:spcPct val="107000"/>
              </a:lnSpc>
              <a:spcAft>
                <a:spcPts val="800"/>
              </a:spcAft>
              <a:tabLst>
                <a:tab pos="4815840" algn="l"/>
              </a:tabLst>
            </a:pPr>
            <a:r>
              <a:rPr lang="en-IN" sz="1600" b="1" u="sng" kern="100" dirty="0">
                <a:effectLst/>
                <a:ea typeface="Calibri" panose="020F0502020204030204" pitchFamily="34" charset="0"/>
                <a:cs typeface="Times New Roman" panose="02020603050405020304" pitchFamily="18" charset="0"/>
              </a:rPr>
              <a:t>T-Test: During COVID vs Post-COVID </a:t>
            </a:r>
          </a:p>
          <a:p>
            <a:r>
              <a:rPr lang="en-IN" sz="1400" b="1" kern="100" dirty="0">
                <a:effectLst/>
                <a:ea typeface="Calibri" panose="020F0502020204030204" pitchFamily="34" charset="0"/>
                <a:cs typeface="Times New Roman" panose="02020603050405020304" pitchFamily="18" charset="0"/>
              </a:rPr>
              <a:t>The mean price during COVID (₹1454/quintal) was slightly lower than post-COVID (₹1506/quintal). p-value is 1.42e-12, indicating a statistically significant difference. </a:t>
            </a:r>
          </a:p>
          <a:p>
            <a:r>
              <a:rPr lang="en-IN" sz="1400" b="1" kern="100" dirty="0">
                <a:effectLst/>
                <a:ea typeface="Calibri" panose="020F0502020204030204" pitchFamily="34" charset="0"/>
                <a:cs typeface="Times New Roman" panose="02020603050405020304" pitchFamily="18" charset="0"/>
              </a:rPr>
              <a:t> Prices remained high post-COVID but with a small upward shift compared to during COVID.</a:t>
            </a:r>
          </a:p>
        </p:txBody>
      </p:sp>
      <p:sp>
        <p:nvSpPr>
          <p:cNvPr id="12" name="TextBox 11">
            <a:extLst>
              <a:ext uri="{FF2B5EF4-FFF2-40B4-BE49-F238E27FC236}">
                <a16:creationId xmlns:a16="http://schemas.microsoft.com/office/drawing/2014/main" id="{2FD7F758-00E4-DB10-740F-9885C02081F2}"/>
              </a:ext>
            </a:extLst>
          </p:cNvPr>
          <p:cNvSpPr txBox="1"/>
          <p:nvPr/>
        </p:nvSpPr>
        <p:spPr>
          <a:xfrm>
            <a:off x="1887793" y="255414"/>
            <a:ext cx="7275872" cy="456792"/>
          </a:xfrm>
          <a:prstGeom prst="rect">
            <a:avLst/>
          </a:prstGeom>
          <a:noFill/>
        </p:spPr>
        <p:txBody>
          <a:bodyPr wrap="square">
            <a:spAutoFit/>
          </a:bodyPr>
          <a:lstStyle/>
          <a:p>
            <a:pPr>
              <a:lnSpc>
                <a:spcPct val="107000"/>
              </a:lnSpc>
              <a:spcAft>
                <a:spcPts val="800"/>
              </a:spcAft>
              <a:tabLst>
                <a:tab pos="4815840" algn="l"/>
              </a:tabLst>
            </a:pPr>
            <a:r>
              <a:rPr lang="en-IN" sz="2400" b="1" kern="100" dirty="0">
                <a:solidFill>
                  <a:srgbClr val="C00000"/>
                </a:solidFill>
                <a:effectLst/>
                <a:ea typeface="Calibri" panose="020F0502020204030204" pitchFamily="34" charset="0"/>
                <a:cs typeface="Times New Roman" panose="02020603050405020304" pitchFamily="18" charset="0"/>
              </a:rPr>
              <a:t>Welch's- Test For Prices &amp; Arrivals Comparison </a:t>
            </a:r>
            <a:endParaRPr lang="en-IN" sz="1600" kern="100" dirty="0">
              <a:solidFill>
                <a:srgbClr val="C00000"/>
              </a:solidFill>
              <a:effectLst/>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3EB63BD9-B719-D3F1-3C90-951200709771}"/>
              </a:ext>
            </a:extLst>
          </p:cNvPr>
          <p:cNvSpPr txBox="1"/>
          <p:nvPr/>
        </p:nvSpPr>
        <p:spPr>
          <a:xfrm>
            <a:off x="1887793" y="3588497"/>
            <a:ext cx="8967019" cy="2061142"/>
          </a:xfrm>
          <a:prstGeom prst="rect">
            <a:avLst/>
          </a:prstGeom>
          <a:noFill/>
        </p:spPr>
        <p:txBody>
          <a:bodyPr wrap="square">
            <a:spAutoFit/>
          </a:bodyPr>
          <a:lstStyle/>
          <a:p>
            <a:pPr>
              <a:lnSpc>
                <a:spcPct val="107000"/>
              </a:lnSpc>
              <a:spcAft>
                <a:spcPts val="800"/>
              </a:spcAft>
              <a:tabLst>
                <a:tab pos="4815840" algn="l"/>
              </a:tabLst>
            </a:pPr>
            <a:r>
              <a:rPr lang="en-IN" b="1" u="sng" kern="100" dirty="0">
                <a:effectLst/>
                <a:ea typeface="Calibri" panose="020F0502020204030204" pitchFamily="34" charset="0"/>
                <a:cs typeface="Times New Roman" panose="02020603050405020304" pitchFamily="18" charset="0"/>
              </a:rPr>
              <a:t>T- Test For Arrivals Comparison :</a:t>
            </a:r>
            <a:endParaRPr lang="en-IN" sz="1400" b="1" u="sng" kern="100" dirty="0">
              <a:effectLst/>
              <a:ea typeface="Calibri" panose="020F0502020204030204" pitchFamily="34" charset="0"/>
              <a:cs typeface="Times New Roman" panose="02020603050405020304" pitchFamily="18" charset="0"/>
            </a:endParaRPr>
          </a:p>
          <a:p>
            <a:pPr>
              <a:lnSpc>
                <a:spcPct val="107000"/>
              </a:lnSpc>
              <a:spcAft>
                <a:spcPts val="800"/>
              </a:spcAft>
              <a:tabLst>
                <a:tab pos="4815840" algn="l"/>
              </a:tabLst>
            </a:pPr>
            <a:r>
              <a:rPr lang="en-IN" sz="1400" b="1" kern="100" dirty="0">
                <a:effectLst/>
                <a:ea typeface="Calibri" panose="020F0502020204030204" pitchFamily="34" charset="0"/>
                <a:cs typeface="Times New Roman" panose="02020603050405020304" pitchFamily="18" charset="0"/>
              </a:rPr>
              <a:t>Two Welch t-tests were conducted:</a:t>
            </a:r>
            <a:endParaRPr lang="en-IN" sz="1200" b="1" kern="100" dirty="0">
              <a:effectLst/>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 pos="4815840" algn="l"/>
              </a:tabLst>
            </a:pPr>
            <a:r>
              <a:rPr lang="en-IN" sz="1400" b="1" kern="100" dirty="0">
                <a:effectLst/>
                <a:ea typeface="Calibri" panose="020F0502020204030204" pitchFamily="34" charset="0"/>
                <a:cs typeface="Times New Roman" panose="02020603050405020304" pitchFamily="18" charset="0"/>
              </a:rPr>
              <a:t>During COVID vs. Pre-COVID: The mean arrivals during COVID (233 tonnes) were significantly higher than Pre-COVID (217 tonnes), with a p-value of 6.15×10−9, indicating a statistically significant difference.</a:t>
            </a:r>
            <a:endParaRPr lang="en-IN" sz="1200" b="1" kern="100" dirty="0">
              <a:effectLst/>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 pos="4815840" algn="l"/>
              </a:tabLst>
            </a:pPr>
            <a:r>
              <a:rPr lang="en-IN" sz="1400" b="1" kern="100" dirty="0">
                <a:effectLst/>
                <a:ea typeface="Calibri" panose="020F0502020204030204" pitchFamily="34" charset="0"/>
                <a:cs typeface="Times New Roman" panose="02020603050405020304" pitchFamily="18" charset="0"/>
              </a:rPr>
              <a:t>During COVID vs. Post-COVID: The mean arrivals during COVID (233 tonnes) were significantly lower than Post-COVID (241 tonnes), with a p-value of 0.003, showing a statistically significant difference.</a:t>
            </a:r>
            <a:endParaRPr lang="en-IN" sz="1200" b="1" kern="100" dirty="0">
              <a:effectLs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EBC9676-6AEB-BBF3-FBA6-523540CD33AC}"/>
              </a:ext>
            </a:extLst>
          </p:cNvPr>
          <p:cNvSpPr txBox="1"/>
          <p:nvPr/>
        </p:nvSpPr>
        <p:spPr>
          <a:xfrm>
            <a:off x="1887793" y="643944"/>
            <a:ext cx="6098058" cy="364972"/>
          </a:xfrm>
          <a:prstGeom prst="rect">
            <a:avLst/>
          </a:prstGeom>
          <a:noFill/>
        </p:spPr>
        <p:txBody>
          <a:bodyPr wrap="square">
            <a:spAutoFit/>
          </a:bodyPr>
          <a:lstStyle/>
          <a:p>
            <a:pPr>
              <a:lnSpc>
                <a:spcPct val="107000"/>
              </a:lnSpc>
              <a:spcAft>
                <a:spcPts val="800"/>
              </a:spcAft>
              <a:tabLst>
                <a:tab pos="4815840" algn="l"/>
              </a:tabLst>
            </a:pPr>
            <a:r>
              <a:rPr lang="en-IN" b="1" u="sng" kern="100" dirty="0">
                <a:effectLst/>
                <a:ea typeface="Calibri" panose="020F0502020204030204" pitchFamily="34" charset="0"/>
                <a:cs typeface="Times New Roman" panose="02020603050405020304" pitchFamily="18" charset="0"/>
              </a:rPr>
              <a:t>T- Test For </a:t>
            </a:r>
            <a:r>
              <a:rPr lang="en-IN" b="1" u="sng" kern="100" dirty="0">
                <a:ea typeface="Calibri" panose="020F0502020204030204" pitchFamily="34" charset="0"/>
                <a:cs typeface="Times New Roman" panose="02020603050405020304" pitchFamily="18" charset="0"/>
              </a:rPr>
              <a:t>Price </a:t>
            </a:r>
            <a:r>
              <a:rPr lang="en-IN" b="1" u="sng" kern="100" dirty="0">
                <a:effectLst/>
                <a:ea typeface="Calibri" panose="020F0502020204030204" pitchFamily="34" charset="0"/>
                <a:cs typeface="Times New Roman" panose="02020603050405020304" pitchFamily="18" charset="0"/>
              </a:rPr>
              <a:t>Comparison :</a:t>
            </a:r>
            <a:endParaRPr lang="en-IN" sz="1400" b="1" u="sng"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9268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CB36-47B7-237B-66A7-886512892471}"/>
              </a:ext>
            </a:extLst>
          </p:cNvPr>
          <p:cNvSpPr>
            <a:spLocks noGrp="1"/>
          </p:cNvSpPr>
          <p:nvPr>
            <p:ph type="ctrTitle"/>
          </p:nvPr>
        </p:nvSpPr>
        <p:spPr>
          <a:xfrm>
            <a:off x="2340079" y="216310"/>
            <a:ext cx="7344696" cy="503790"/>
          </a:xfrm>
        </p:spPr>
        <p:txBody>
          <a:bodyPr>
            <a:normAutofit fontScale="90000"/>
          </a:bodyPr>
          <a:lstStyle/>
          <a:p>
            <a:pPr marL="228600">
              <a:lnSpc>
                <a:spcPct val="107000"/>
              </a:lnSpc>
              <a:spcAft>
                <a:spcPts val="800"/>
              </a:spcAft>
              <a:tabLst>
                <a:tab pos="4815840" algn="l"/>
              </a:tabLst>
            </a:pPr>
            <a:r>
              <a:rPr lang="en-IN" sz="18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br>
            <a:r>
              <a:rPr lang="en-IN" sz="2700" b="1" kern="100" dirty="0">
                <a:solidFill>
                  <a:srgbClr val="C00000"/>
                </a:solidFill>
                <a:effectLst/>
                <a:latin typeface="+mn-lt"/>
                <a:ea typeface="Calibri" panose="020F0502020204030204" pitchFamily="34" charset="0"/>
                <a:cs typeface="Times New Roman" panose="02020603050405020304" pitchFamily="18" charset="0"/>
              </a:rPr>
              <a:t>Prices &amp; Arrivals Comparison for Pune District </a:t>
            </a:r>
            <a:endParaRPr lang="en-IN" sz="1800" kern="100" dirty="0">
              <a:solidFill>
                <a:srgbClr val="C00000"/>
              </a:solidFill>
              <a:effectLst/>
              <a:latin typeface="+mn-lt"/>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5F10549C-1C7C-9FC5-B31F-8E6A556DBFEB}"/>
              </a:ext>
            </a:extLst>
          </p:cNvPr>
          <p:cNvPicPr>
            <a:picLocks noChangeAspect="1"/>
          </p:cNvPicPr>
          <p:nvPr/>
        </p:nvPicPr>
        <p:blipFill>
          <a:blip r:embed="rId2"/>
          <a:stretch>
            <a:fillRect/>
          </a:stretch>
        </p:blipFill>
        <p:spPr>
          <a:xfrm>
            <a:off x="208363" y="1220100"/>
            <a:ext cx="5772307" cy="3080052"/>
          </a:xfrm>
          <a:prstGeom prst="rect">
            <a:avLst/>
          </a:prstGeom>
          <a:ln>
            <a:solidFill>
              <a:schemeClr val="tx1"/>
            </a:solidFill>
          </a:ln>
        </p:spPr>
      </p:pic>
      <p:pic>
        <p:nvPicPr>
          <p:cNvPr id="8" name="Picture 7">
            <a:extLst>
              <a:ext uri="{FF2B5EF4-FFF2-40B4-BE49-F238E27FC236}">
                <a16:creationId xmlns:a16="http://schemas.microsoft.com/office/drawing/2014/main" id="{6B293F7A-211A-EFBD-AF8B-CCDE83D46D16}"/>
              </a:ext>
            </a:extLst>
          </p:cNvPr>
          <p:cNvPicPr>
            <a:picLocks noChangeAspect="1"/>
          </p:cNvPicPr>
          <p:nvPr/>
        </p:nvPicPr>
        <p:blipFill>
          <a:blip r:embed="rId3"/>
          <a:stretch>
            <a:fillRect/>
          </a:stretch>
        </p:blipFill>
        <p:spPr>
          <a:xfrm>
            <a:off x="6419449" y="1258529"/>
            <a:ext cx="5658485" cy="3041623"/>
          </a:xfrm>
          <a:prstGeom prst="rect">
            <a:avLst/>
          </a:prstGeom>
          <a:ln>
            <a:solidFill>
              <a:schemeClr val="tx1"/>
            </a:solidFill>
          </a:ln>
        </p:spPr>
      </p:pic>
      <p:sp>
        <p:nvSpPr>
          <p:cNvPr id="5" name="TextBox 4">
            <a:extLst>
              <a:ext uri="{FF2B5EF4-FFF2-40B4-BE49-F238E27FC236}">
                <a16:creationId xmlns:a16="http://schemas.microsoft.com/office/drawing/2014/main" id="{E24FAE6A-A6C6-FAD0-D5AA-7165152A7368}"/>
              </a:ext>
            </a:extLst>
          </p:cNvPr>
          <p:cNvSpPr txBox="1"/>
          <p:nvPr/>
        </p:nvSpPr>
        <p:spPr>
          <a:xfrm>
            <a:off x="1856512" y="4561776"/>
            <a:ext cx="10221422" cy="1169551"/>
          </a:xfrm>
          <a:prstGeom prst="rect">
            <a:avLst/>
          </a:prstGeom>
          <a:noFill/>
        </p:spPr>
        <p:txBody>
          <a:bodyPr wrap="square">
            <a:spAutoFit/>
          </a:bodyPr>
          <a:lstStyle/>
          <a:p>
            <a:r>
              <a:rPr lang="en-US" sz="1400" dirty="0"/>
              <a:t>1) This box plot compares onion prices in Pune across three periods: pre-COVID, during COVID, and post-COVID. The median price appears to have increased during the COVID period compared to pre-COVID. While the median decreased post-COVID, it remains higher than the pre-COVID period. The presence of outliers suggests significant price fluctuations within each period</a:t>
            </a:r>
          </a:p>
          <a:p>
            <a:endParaRPr lang="en-IN" sz="1400" dirty="0"/>
          </a:p>
        </p:txBody>
      </p:sp>
      <p:sp>
        <p:nvSpPr>
          <p:cNvPr id="9" name="TextBox 8">
            <a:extLst>
              <a:ext uri="{FF2B5EF4-FFF2-40B4-BE49-F238E27FC236}">
                <a16:creationId xmlns:a16="http://schemas.microsoft.com/office/drawing/2014/main" id="{21B92666-867E-D7C9-68B2-D4F194D71BCC}"/>
              </a:ext>
            </a:extLst>
          </p:cNvPr>
          <p:cNvSpPr txBox="1"/>
          <p:nvPr/>
        </p:nvSpPr>
        <p:spPr>
          <a:xfrm>
            <a:off x="1856512" y="5667683"/>
            <a:ext cx="10221422" cy="1015663"/>
          </a:xfrm>
          <a:prstGeom prst="rect">
            <a:avLst/>
          </a:prstGeom>
          <a:noFill/>
        </p:spPr>
        <p:txBody>
          <a:bodyPr wrap="square">
            <a:spAutoFit/>
          </a:bodyPr>
          <a:lstStyle/>
          <a:p>
            <a:r>
              <a:rPr lang="en-US" sz="1400" dirty="0"/>
              <a:t>2) This box plot compares onion arrivals in Pune across three periods: pre-COVID, during COVID, and post-COVID. The median arrival quantity appears to be highest during the COVID period, followed by the post-COVID period, and then the pre-COVID period. The presence of numerous outliers suggests significant variability in arrival quantities within each period</a:t>
            </a:r>
            <a:r>
              <a:rPr lang="en-US" dirty="0"/>
              <a:t>.</a:t>
            </a:r>
            <a:endParaRPr lang="en-IN" dirty="0"/>
          </a:p>
        </p:txBody>
      </p:sp>
    </p:spTree>
    <p:extLst>
      <p:ext uri="{BB962C8B-B14F-4D97-AF65-F5344CB8AC3E}">
        <p14:creationId xmlns:p14="http://schemas.microsoft.com/office/powerpoint/2010/main" val="2491389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42C6A2-84F4-AD37-696B-32332BA17FE5}"/>
              </a:ext>
            </a:extLst>
          </p:cNvPr>
          <p:cNvSpPr>
            <a:spLocks noGrp="1"/>
          </p:cNvSpPr>
          <p:nvPr>
            <p:ph type="sldNum" sz="quarter" idx="12"/>
          </p:nvPr>
        </p:nvSpPr>
        <p:spPr/>
        <p:txBody>
          <a:bodyPr/>
          <a:lstStyle/>
          <a:p>
            <a:fld id="{0D3E3056-22A3-4E2C-9164-3EEDF19BB457}" type="slidenum">
              <a:rPr lang="en-IN" smtClean="0"/>
              <a:t>29</a:t>
            </a:fld>
            <a:endParaRPr lang="en-IN" dirty="0"/>
          </a:p>
        </p:txBody>
      </p:sp>
      <p:sp>
        <p:nvSpPr>
          <p:cNvPr id="8" name="TextBox 7">
            <a:extLst>
              <a:ext uri="{FF2B5EF4-FFF2-40B4-BE49-F238E27FC236}">
                <a16:creationId xmlns:a16="http://schemas.microsoft.com/office/drawing/2014/main" id="{1B634F89-6979-56ED-5F4E-BD0348FA00CE}"/>
              </a:ext>
            </a:extLst>
          </p:cNvPr>
          <p:cNvSpPr txBox="1"/>
          <p:nvPr/>
        </p:nvSpPr>
        <p:spPr>
          <a:xfrm>
            <a:off x="1767269" y="462922"/>
            <a:ext cx="9480835" cy="2352311"/>
          </a:xfrm>
          <a:prstGeom prst="rect">
            <a:avLst/>
          </a:prstGeom>
          <a:noFill/>
        </p:spPr>
        <p:txBody>
          <a:bodyPr wrap="square">
            <a:spAutoFit/>
          </a:bodyPr>
          <a:lstStyle/>
          <a:p>
            <a:pPr>
              <a:lnSpc>
                <a:spcPct val="107000"/>
              </a:lnSpc>
              <a:spcAft>
                <a:spcPts val="800"/>
              </a:spcAft>
              <a:tabLst>
                <a:tab pos="4815840" algn="l"/>
              </a:tabLst>
            </a:pPr>
            <a:r>
              <a:rPr lang="en-IN" sz="2000" b="1" u="sng" kern="100" dirty="0">
                <a:effectLst/>
                <a:ea typeface="Calibri" panose="020F0502020204030204" pitchFamily="34" charset="0"/>
                <a:cs typeface="Times New Roman" panose="02020603050405020304" pitchFamily="18" charset="0"/>
              </a:rPr>
              <a:t>T Test </a:t>
            </a:r>
            <a:r>
              <a:rPr lang="en-IN" sz="2000" b="1" u="sng" kern="100" dirty="0">
                <a:ea typeface="Calibri" panose="020F0502020204030204" pitchFamily="34" charset="0"/>
                <a:cs typeface="Times New Roman" panose="02020603050405020304" pitchFamily="18" charset="0"/>
              </a:rPr>
              <a:t>For Prices Comparison :</a:t>
            </a:r>
            <a:endParaRPr lang="en-IN" sz="1600" u="sng" kern="100" dirty="0">
              <a:effectLst/>
              <a:ea typeface="Calibri" panose="020F0502020204030204" pitchFamily="34" charset="0"/>
              <a:cs typeface="Times New Roman" panose="02020603050405020304" pitchFamily="18" charset="0"/>
            </a:endParaRPr>
          </a:p>
          <a:p>
            <a:pPr>
              <a:lnSpc>
                <a:spcPct val="107000"/>
              </a:lnSpc>
              <a:spcAft>
                <a:spcPts val="800"/>
              </a:spcAft>
              <a:tabLst>
                <a:tab pos="4815840" algn="l"/>
              </a:tabLst>
            </a:pPr>
            <a:r>
              <a:rPr lang="en-IN" sz="1600" b="1" u="sng" kern="100" dirty="0">
                <a:effectLst/>
                <a:ea typeface="Calibri" panose="020F0502020204030204" pitchFamily="34" charset="0"/>
                <a:cs typeface="Times New Roman" panose="02020603050405020304" pitchFamily="18" charset="0"/>
              </a:rPr>
              <a:t>During COVID vs Pre-COVID: </a:t>
            </a:r>
            <a:r>
              <a:rPr lang="en-IN" sz="1600" b="1" kern="100" dirty="0">
                <a:effectLst/>
                <a:ea typeface="Calibri" panose="020F0502020204030204" pitchFamily="34" charset="0"/>
                <a:cs typeface="Times New Roman" panose="02020603050405020304" pitchFamily="18" charset="0"/>
              </a:rPr>
              <a:t>The mean price during COVID (₹1264.79/quintal) was significantly higher than pre-COVID (₹1134.55/quintal) with a p-value of 1.249e-11.</a:t>
            </a:r>
            <a:endParaRPr lang="en-IN" sz="1400" b="1" kern="100" dirty="0">
              <a:effectLst/>
              <a:ea typeface="Calibri" panose="020F0502020204030204" pitchFamily="34" charset="0"/>
              <a:cs typeface="Times New Roman" panose="02020603050405020304" pitchFamily="18" charset="0"/>
            </a:endParaRPr>
          </a:p>
          <a:p>
            <a:pPr>
              <a:lnSpc>
                <a:spcPct val="107000"/>
              </a:lnSpc>
              <a:spcAft>
                <a:spcPts val="800"/>
              </a:spcAft>
              <a:tabLst>
                <a:tab pos="4815840" algn="l"/>
              </a:tabLst>
            </a:pPr>
            <a:r>
              <a:rPr lang="en-IN" sz="1600" b="1" u="sng" kern="100" dirty="0">
                <a:effectLst/>
                <a:ea typeface="Calibri" panose="020F0502020204030204" pitchFamily="34" charset="0"/>
                <a:cs typeface="Times New Roman" panose="02020603050405020304" pitchFamily="18" charset="0"/>
              </a:rPr>
              <a:t>During COVID vs Post-COVID: </a:t>
            </a:r>
            <a:r>
              <a:rPr lang="en-IN" sz="1600" b="1" kern="100" dirty="0">
                <a:effectLst/>
                <a:ea typeface="Calibri" panose="020F0502020204030204" pitchFamily="34" charset="0"/>
                <a:cs typeface="Times New Roman" panose="02020603050405020304" pitchFamily="18" charset="0"/>
              </a:rPr>
              <a:t>The price during COVID (₹1264.79/quintal) was significantly lower than post-COVID (₹1413.93/quintal) with a p-value of 1.913e-15.</a:t>
            </a:r>
            <a:endParaRPr lang="en-IN" sz="1400" b="1" kern="100" dirty="0">
              <a:effectLst/>
              <a:ea typeface="Calibri" panose="020F0502020204030204" pitchFamily="34" charset="0"/>
              <a:cs typeface="Times New Roman" panose="02020603050405020304" pitchFamily="18" charset="0"/>
            </a:endParaRPr>
          </a:p>
          <a:p>
            <a:pPr>
              <a:lnSpc>
                <a:spcPct val="107000"/>
              </a:lnSpc>
              <a:spcAft>
                <a:spcPts val="800"/>
              </a:spcAft>
              <a:tabLst>
                <a:tab pos="4815840" algn="l"/>
              </a:tabLst>
            </a:pPr>
            <a:r>
              <a:rPr lang="en-IN" sz="1600" b="1" kern="100" dirty="0">
                <a:effectLst/>
                <a:ea typeface="Calibri" panose="020F0502020204030204" pitchFamily="34" charset="0"/>
                <a:cs typeface="Times New Roman" panose="02020603050405020304" pitchFamily="18" charset="0"/>
              </a:rPr>
              <a:t> Onion prices increased significantly from pre-COVID to during COVID, then further rose post-COVID.</a:t>
            </a:r>
            <a:endParaRPr lang="en-IN" sz="1400" b="1" kern="100" dirty="0">
              <a:effectLst/>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CF0E674C-4796-8BB6-6F84-9809782D4C6E}"/>
              </a:ext>
            </a:extLst>
          </p:cNvPr>
          <p:cNvSpPr txBox="1"/>
          <p:nvPr/>
        </p:nvSpPr>
        <p:spPr>
          <a:xfrm>
            <a:off x="1767269" y="3227004"/>
            <a:ext cx="9892919" cy="2868542"/>
          </a:xfrm>
          <a:prstGeom prst="rect">
            <a:avLst/>
          </a:prstGeom>
          <a:noFill/>
        </p:spPr>
        <p:txBody>
          <a:bodyPr wrap="square">
            <a:spAutoFit/>
          </a:bodyPr>
          <a:lstStyle/>
          <a:p>
            <a:pPr>
              <a:lnSpc>
                <a:spcPct val="107000"/>
              </a:lnSpc>
              <a:spcAft>
                <a:spcPts val="800"/>
              </a:spcAft>
              <a:tabLst>
                <a:tab pos="4815840" algn="l"/>
              </a:tabLst>
            </a:pPr>
            <a:r>
              <a:rPr lang="en-IN" sz="2000" b="1" u="sng" kern="100" dirty="0">
                <a:effectLst/>
                <a:ea typeface="Calibri" panose="020F0502020204030204" pitchFamily="34" charset="0"/>
                <a:cs typeface="Times New Roman" panose="02020603050405020304" pitchFamily="18" charset="0"/>
              </a:rPr>
              <a:t>T Test</a:t>
            </a:r>
            <a:r>
              <a:rPr lang="en-IN" sz="2000" b="1" u="sng" kern="100" dirty="0">
                <a:ea typeface="Calibri" panose="020F0502020204030204" pitchFamily="34" charset="0"/>
                <a:cs typeface="Times New Roman" panose="02020603050405020304" pitchFamily="18" charset="0"/>
              </a:rPr>
              <a:t> For Arrivals Comparison:</a:t>
            </a:r>
            <a:endParaRPr lang="en-IN" sz="1400" u="sng" kern="100" dirty="0">
              <a:effectLst/>
              <a:ea typeface="Calibri" panose="020F0502020204030204" pitchFamily="34" charset="0"/>
              <a:cs typeface="Times New Roman" panose="02020603050405020304" pitchFamily="18" charset="0"/>
            </a:endParaRPr>
          </a:p>
          <a:p>
            <a:pPr>
              <a:lnSpc>
                <a:spcPct val="107000"/>
              </a:lnSpc>
              <a:spcAft>
                <a:spcPts val="800"/>
              </a:spcAft>
              <a:tabLst>
                <a:tab pos="4815840" algn="l"/>
              </a:tabLst>
            </a:pPr>
            <a:r>
              <a:rPr lang="en-IN" sz="1600" b="1" u="sng" kern="100" dirty="0">
                <a:effectLst/>
                <a:ea typeface="Calibri" panose="020F0502020204030204" pitchFamily="34" charset="0"/>
                <a:cs typeface="Times New Roman" panose="02020603050405020304" pitchFamily="18" charset="0"/>
              </a:rPr>
              <a:t>During COVID vs Pre-COVID: </a:t>
            </a:r>
            <a:r>
              <a:rPr lang="en-IN" sz="1600" b="1" kern="100" dirty="0">
                <a:effectLst/>
                <a:ea typeface="Calibri" panose="020F0502020204030204" pitchFamily="34" charset="0"/>
                <a:cs typeface="Times New Roman" panose="02020603050405020304" pitchFamily="18" charset="0"/>
              </a:rPr>
              <a:t>The mean arrivals during COVID (66.58 tonnes) are slightly higher than pre-COVID (64.30 tonnes), but the p-value (0.5759) indicates no statistically significant difference.</a:t>
            </a:r>
            <a:endParaRPr lang="en-IN" sz="1400" b="1" kern="100" dirty="0">
              <a:effectLst/>
              <a:ea typeface="Calibri" panose="020F0502020204030204" pitchFamily="34" charset="0"/>
              <a:cs typeface="Times New Roman" panose="02020603050405020304" pitchFamily="18" charset="0"/>
            </a:endParaRPr>
          </a:p>
          <a:p>
            <a:pPr>
              <a:lnSpc>
                <a:spcPct val="107000"/>
              </a:lnSpc>
              <a:spcAft>
                <a:spcPts val="800"/>
              </a:spcAft>
              <a:tabLst>
                <a:tab pos="4815840" algn="l"/>
              </a:tabLst>
            </a:pPr>
            <a:r>
              <a:rPr lang="en-IN" sz="1600" b="1" u="sng" kern="100" dirty="0">
                <a:effectLst/>
                <a:ea typeface="Calibri" panose="020F0502020204030204" pitchFamily="34" charset="0"/>
                <a:cs typeface="Times New Roman" panose="02020603050405020304" pitchFamily="18" charset="0"/>
              </a:rPr>
              <a:t>During COVID vs Post-COVID: </a:t>
            </a:r>
            <a:r>
              <a:rPr lang="en-IN" sz="1600" b="1" kern="100" dirty="0">
                <a:effectLst/>
                <a:ea typeface="Calibri" panose="020F0502020204030204" pitchFamily="34" charset="0"/>
                <a:cs typeface="Times New Roman" panose="02020603050405020304" pitchFamily="18" charset="0"/>
              </a:rPr>
              <a:t>The mean arrivals during COVID (66.58 tonnes) are significantly higher than post-COVID (39.76 tonnes), with a p-value of 1.446e-12, indicating a statistically significant difference.</a:t>
            </a:r>
            <a:endParaRPr lang="en-IN" sz="1400" b="1" kern="100" dirty="0">
              <a:effectLst/>
              <a:ea typeface="Calibri" panose="020F0502020204030204" pitchFamily="34" charset="0"/>
              <a:cs typeface="Times New Roman" panose="02020603050405020304" pitchFamily="18" charset="0"/>
            </a:endParaRPr>
          </a:p>
          <a:p>
            <a:r>
              <a:rPr lang="en-IN" sz="1600" b="1" dirty="0">
                <a:effectLst/>
                <a:ea typeface="Calibri" panose="020F0502020204030204" pitchFamily="34" charset="0"/>
              </a:rPr>
              <a:t>There was no significant difference in arrivals between during COVID and pre-COVID, but there was a significant increase in arrivals during COVID compared to post-COVID</a:t>
            </a:r>
            <a:endParaRPr lang="en-IN" sz="1600" b="1" dirty="0"/>
          </a:p>
        </p:txBody>
      </p:sp>
    </p:spTree>
    <p:extLst>
      <p:ext uri="{BB962C8B-B14F-4D97-AF65-F5344CB8AC3E}">
        <p14:creationId xmlns:p14="http://schemas.microsoft.com/office/powerpoint/2010/main" val="1704754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572C7-F375-AC28-469E-723646B5351B}"/>
              </a:ext>
            </a:extLst>
          </p:cNvPr>
          <p:cNvSpPr>
            <a:spLocks noGrp="1"/>
          </p:cNvSpPr>
          <p:nvPr>
            <p:ph type="title"/>
          </p:nvPr>
        </p:nvSpPr>
        <p:spPr/>
        <p:txBody>
          <a:bodyPr/>
          <a:lstStyle/>
          <a:p>
            <a:r>
              <a:rPr lang="en-IN" sz="3600" b="1" dirty="0"/>
              <a:t>Time series analysis :</a:t>
            </a:r>
            <a:br>
              <a:rPr lang="en-IN" sz="3600" b="1" dirty="0"/>
            </a:br>
            <a:endParaRPr lang="en-IN" dirty="0"/>
          </a:p>
        </p:txBody>
      </p:sp>
      <p:sp>
        <p:nvSpPr>
          <p:cNvPr id="3" name="Content Placeholder 2">
            <a:extLst>
              <a:ext uri="{FF2B5EF4-FFF2-40B4-BE49-F238E27FC236}">
                <a16:creationId xmlns:a16="http://schemas.microsoft.com/office/drawing/2014/main" id="{DC53CF9F-545F-25A8-71AA-3A10F995E6A4}"/>
              </a:ext>
            </a:extLst>
          </p:cNvPr>
          <p:cNvSpPr>
            <a:spLocks noGrp="1"/>
          </p:cNvSpPr>
          <p:nvPr>
            <p:ph idx="1"/>
          </p:nvPr>
        </p:nvSpPr>
        <p:spPr/>
        <p:txBody>
          <a:bodyPr/>
          <a:lstStyle/>
          <a:p>
            <a:r>
              <a:rPr lang="en-IN" sz="1800" b="1" dirty="0"/>
              <a:t>The objective of doing time series is to forecast Modal Price of onion using historical data</a:t>
            </a:r>
          </a:p>
          <a:p>
            <a:r>
              <a:rPr lang="en-IN" sz="1800" b="1" dirty="0"/>
              <a:t>For forecasting Modal Prices we used data of monthly Modal price from 2013January to December 2024.</a:t>
            </a:r>
          </a:p>
          <a:p>
            <a:r>
              <a:rPr lang="en-US" sz="1800" b="1" dirty="0"/>
              <a:t>The data sets available in the current work are univariate and seasonal. </a:t>
            </a:r>
          </a:p>
          <a:p>
            <a:r>
              <a:rPr lang="en-US" sz="1800" b="1" dirty="0"/>
              <a:t>For such data sets and short-term forecast, seasonal ARIMA and Holt-Winter’s method are used for forecasting.</a:t>
            </a:r>
          </a:p>
          <a:p>
            <a:endParaRPr lang="en-IN" dirty="0"/>
          </a:p>
        </p:txBody>
      </p:sp>
      <p:sp>
        <p:nvSpPr>
          <p:cNvPr id="4" name="Slide Number Placeholder 3">
            <a:extLst>
              <a:ext uri="{FF2B5EF4-FFF2-40B4-BE49-F238E27FC236}">
                <a16:creationId xmlns:a16="http://schemas.microsoft.com/office/drawing/2014/main" id="{329578E0-E206-1E2E-0467-83A058C9DF07}"/>
              </a:ext>
            </a:extLst>
          </p:cNvPr>
          <p:cNvSpPr>
            <a:spLocks noGrp="1"/>
          </p:cNvSpPr>
          <p:nvPr>
            <p:ph type="sldNum" sz="quarter" idx="12"/>
          </p:nvPr>
        </p:nvSpPr>
        <p:spPr/>
        <p:txBody>
          <a:bodyPr/>
          <a:lstStyle/>
          <a:p>
            <a:fld id="{0D3E3056-22A3-4E2C-9164-3EEDF19BB457}" type="slidenum">
              <a:rPr lang="en-IN" smtClean="0"/>
              <a:t>30</a:t>
            </a:fld>
            <a:endParaRPr lang="en-IN" dirty="0"/>
          </a:p>
        </p:txBody>
      </p:sp>
    </p:spTree>
    <p:extLst>
      <p:ext uri="{BB962C8B-B14F-4D97-AF65-F5344CB8AC3E}">
        <p14:creationId xmlns:p14="http://schemas.microsoft.com/office/powerpoint/2010/main" val="2052786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0DA69-16AB-74AA-08E2-C7F791EEB27F}"/>
              </a:ext>
            </a:extLst>
          </p:cNvPr>
          <p:cNvSpPr>
            <a:spLocks noGrp="1"/>
          </p:cNvSpPr>
          <p:nvPr>
            <p:ph type="title"/>
          </p:nvPr>
        </p:nvSpPr>
        <p:spPr/>
        <p:txBody>
          <a:bodyPr/>
          <a:lstStyle/>
          <a:p>
            <a:r>
              <a:rPr lang="en-IN" dirty="0"/>
              <a:t>SARIMA</a:t>
            </a:r>
          </a:p>
        </p:txBody>
      </p:sp>
      <p:sp>
        <p:nvSpPr>
          <p:cNvPr id="4" name="Slide Number Placeholder 3">
            <a:extLst>
              <a:ext uri="{FF2B5EF4-FFF2-40B4-BE49-F238E27FC236}">
                <a16:creationId xmlns:a16="http://schemas.microsoft.com/office/drawing/2014/main" id="{B7D56CFA-B5CF-904D-6BCC-620032242C63}"/>
              </a:ext>
            </a:extLst>
          </p:cNvPr>
          <p:cNvSpPr>
            <a:spLocks noGrp="1"/>
          </p:cNvSpPr>
          <p:nvPr>
            <p:ph type="sldNum" sz="quarter" idx="12"/>
          </p:nvPr>
        </p:nvSpPr>
        <p:spPr/>
        <p:txBody>
          <a:bodyPr/>
          <a:lstStyle/>
          <a:p>
            <a:fld id="{0D3E3056-22A3-4E2C-9164-3EEDF19BB457}" type="slidenum">
              <a:rPr lang="en-IN" smtClean="0"/>
              <a:t>31</a:t>
            </a:fld>
            <a:endParaRPr lang="en-IN" dirty="0"/>
          </a:p>
        </p:txBody>
      </p:sp>
      <p:pic>
        <p:nvPicPr>
          <p:cNvPr id="5" name="Content Placeholder 4">
            <a:extLst>
              <a:ext uri="{FF2B5EF4-FFF2-40B4-BE49-F238E27FC236}">
                <a16:creationId xmlns:a16="http://schemas.microsoft.com/office/drawing/2014/main" id="{5B32216E-4B4B-6CE4-8E92-965A98CDD4DB}"/>
              </a:ext>
            </a:extLst>
          </p:cNvPr>
          <p:cNvPicPr>
            <a:picLocks noGrp="1" noChangeAspect="1"/>
          </p:cNvPicPr>
          <p:nvPr>
            <p:ph idx="1"/>
          </p:nvPr>
        </p:nvPicPr>
        <p:blipFill>
          <a:blip r:embed="rId2"/>
          <a:stretch>
            <a:fillRect/>
          </a:stretch>
        </p:blipFill>
        <p:spPr>
          <a:xfrm>
            <a:off x="1966782" y="1344833"/>
            <a:ext cx="9401434" cy="3380952"/>
          </a:xfrm>
          <a:prstGeom prst="rect">
            <a:avLst/>
          </a:prstGeom>
          <a:ln>
            <a:solidFill>
              <a:schemeClr val="tx1"/>
            </a:solidFill>
          </a:ln>
        </p:spPr>
      </p:pic>
      <p:sp>
        <p:nvSpPr>
          <p:cNvPr id="6" name="TextBox 5">
            <a:extLst>
              <a:ext uri="{FF2B5EF4-FFF2-40B4-BE49-F238E27FC236}">
                <a16:creationId xmlns:a16="http://schemas.microsoft.com/office/drawing/2014/main" id="{2A05F18C-A5A4-2270-4B16-E2DE3C6673C2}"/>
              </a:ext>
            </a:extLst>
          </p:cNvPr>
          <p:cNvSpPr txBox="1"/>
          <p:nvPr/>
        </p:nvSpPr>
        <p:spPr>
          <a:xfrm>
            <a:off x="2075932" y="4725785"/>
            <a:ext cx="8340813" cy="1723549"/>
          </a:xfrm>
          <a:prstGeom prst="rect">
            <a:avLst/>
          </a:prstGeom>
          <a:noFill/>
        </p:spPr>
        <p:txBody>
          <a:bodyPr wrap="square" rtlCol="0">
            <a:spAutoFit/>
          </a:bodyPr>
          <a:lstStyle/>
          <a:p>
            <a:r>
              <a:rPr lang="en-IN" dirty="0"/>
              <a:t>1</a:t>
            </a:r>
            <a:r>
              <a:rPr lang="en-IN" b="1" dirty="0"/>
              <a:t>.Time series plot</a:t>
            </a:r>
          </a:p>
          <a:p>
            <a:endParaRPr lang="en-IN" sz="1400" b="1" kern="100" dirty="0">
              <a:effectLst/>
              <a:ea typeface="Calibri" panose="020F0502020204030204" pitchFamily="34" charset="0"/>
              <a:cs typeface="Times New Roman" panose="02020603050405020304" pitchFamily="18" charset="0"/>
            </a:endParaRPr>
          </a:p>
          <a:p>
            <a:r>
              <a:rPr lang="en-IN" sz="1400" b="1" kern="100" dirty="0">
                <a:effectLst/>
                <a:ea typeface="Calibri" panose="020F0502020204030204" pitchFamily="34" charset="0"/>
                <a:cs typeface="Times New Roman" panose="02020603050405020304" pitchFamily="18" charset="0"/>
              </a:rPr>
              <a:t>The plot reveals a cyclical pattern in onion prices, with recurring peaks and troughs over roughly two-year intervals. The prices exhibit significant volatility, fluctuating rapidly between highs and lows. The series appears to be non-stationary due to variations in the mean and variance over time.</a:t>
            </a:r>
          </a:p>
          <a:p>
            <a:endParaRPr lang="en-IN" dirty="0"/>
          </a:p>
        </p:txBody>
      </p:sp>
    </p:spTree>
    <p:extLst>
      <p:ext uri="{BB962C8B-B14F-4D97-AF65-F5344CB8AC3E}">
        <p14:creationId xmlns:p14="http://schemas.microsoft.com/office/powerpoint/2010/main" val="3663480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1808F-342D-97C7-2CF4-8DB424D5BD93}"/>
              </a:ext>
            </a:extLst>
          </p:cNvPr>
          <p:cNvSpPr>
            <a:spLocks noGrp="1"/>
          </p:cNvSpPr>
          <p:nvPr>
            <p:ph type="title"/>
          </p:nvPr>
        </p:nvSpPr>
        <p:spPr/>
        <p:txBody>
          <a:bodyPr/>
          <a:lstStyle/>
          <a:p>
            <a:r>
              <a:rPr lang="en-IN" dirty="0"/>
              <a:t>Decomposition of Time series</a:t>
            </a:r>
          </a:p>
        </p:txBody>
      </p:sp>
      <p:pic>
        <p:nvPicPr>
          <p:cNvPr id="5" name="Content Placeholder 4">
            <a:extLst>
              <a:ext uri="{FF2B5EF4-FFF2-40B4-BE49-F238E27FC236}">
                <a16:creationId xmlns:a16="http://schemas.microsoft.com/office/drawing/2014/main" id="{B28EA5E4-86A8-6017-D7A5-E647C0261F05}"/>
              </a:ext>
            </a:extLst>
          </p:cNvPr>
          <p:cNvPicPr>
            <a:picLocks noGrp="1" noChangeAspect="1"/>
          </p:cNvPicPr>
          <p:nvPr>
            <p:ph idx="1"/>
          </p:nvPr>
        </p:nvPicPr>
        <p:blipFill>
          <a:blip r:embed="rId2"/>
          <a:stretch>
            <a:fillRect/>
          </a:stretch>
        </p:blipFill>
        <p:spPr>
          <a:xfrm>
            <a:off x="2234579" y="1389535"/>
            <a:ext cx="8355161" cy="3145395"/>
          </a:xfrm>
          <a:prstGeom prst="rect">
            <a:avLst/>
          </a:prstGeom>
        </p:spPr>
      </p:pic>
      <p:sp>
        <p:nvSpPr>
          <p:cNvPr id="7" name="TextBox 6">
            <a:extLst>
              <a:ext uri="{FF2B5EF4-FFF2-40B4-BE49-F238E27FC236}">
                <a16:creationId xmlns:a16="http://schemas.microsoft.com/office/drawing/2014/main" id="{6065B0AD-1361-4A76-6DF8-6E30AEDC1A6E}"/>
              </a:ext>
            </a:extLst>
          </p:cNvPr>
          <p:cNvSpPr txBox="1"/>
          <p:nvPr/>
        </p:nvSpPr>
        <p:spPr>
          <a:xfrm>
            <a:off x="2345790" y="4795897"/>
            <a:ext cx="8355161" cy="2062103"/>
          </a:xfrm>
          <a:prstGeom prst="rect">
            <a:avLst/>
          </a:prstGeom>
          <a:noFill/>
        </p:spPr>
        <p:txBody>
          <a:bodyPr wrap="square" rtlCol="0">
            <a:spAutoFit/>
          </a:bodyPr>
          <a:lstStyle/>
          <a:p>
            <a:endParaRPr lang="en-US" sz="1400" dirty="0"/>
          </a:p>
          <a:p>
            <a:r>
              <a:rPr lang="en-US" sz="1600" dirty="0"/>
              <a:t>The plot decomposes the onion price series into its constituent components: trend, seasonality, and random noise. The trend component shows a cyclical pattern with a period of roughly two years. Seasonality appears to have a shorter-term cycle, while the random noise component captures unpredictable fluctuations. This decomposition helps understand the drivers of price variations and aids in forecasting.</a:t>
            </a:r>
          </a:p>
          <a:p>
            <a:endParaRPr lang="en-IN" dirty="0"/>
          </a:p>
        </p:txBody>
      </p:sp>
    </p:spTree>
    <p:extLst>
      <p:ext uri="{BB962C8B-B14F-4D97-AF65-F5344CB8AC3E}">
        <p14:creationId xmlns:p14="http://schemas.microsoft.com/office/powerpoint/2010/main" val="586954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0939B9-6D19-559E-2A3E-38A8DD68BEBF}"/>
              </a:ext>
            </a:extLst>
          </p:cNvPr>
          <p:cNvSpPr>
            <a:spLocks noGrp="1"/>
          </p:cNvSpPr>
          <p:nvPr>
            <p:ph type="sldNum" sz="quarter" idx="12"/>
          </p:nvPr>
        </p:nvSpPr>
        <p:spPr/>
        <p:txBody>
          <a:bodyPr/>
          <a:lstStyle/>
          <a:p>
            <a:fld id="{0D3E3056-22A3-4E2C-9164-3EEDF19BB457}" type="slidenum">
              <a:rPr lang="en-IN" smtClean="0"/>
              <a:t>33</a:t>
            </a:fld>
            <a:endParaRPr lang="en-IN" dirty="0"/>
          </a:p>
        </p:txBody>
      </p:sp>
      <p:pic>
        <p:nvPicPr>
          <p:cNvPr id="5" name="Content Placeholder 4">
            <a:extLst>
              <a:ext uri="{FF2B5EF4-FFF2-40B4-BE49-F238E27FC236}">
                <a16:creationId xmlns:a16="http://schemas.microsoft.com/office/drawing/2014/main" id="{24768D19-C66E-5A23-0AC6-719B433741C6}"/>
              </a:ext>
            </a:extLst>
          </p:cNvPr>
          <p:cNvPicPr>
            <a:picLocks noGrp="1" noChangeAspect="1"/>
          </p:cNvPicPr>
          <p:nvPr>
            <p:ph idx="1"/>
          </p:nvPr>
        </p:nvPicPr>
        <p:blipFill>
          <a:blip r:embed="rId2"/>
          <a:stretch>
            <a:fillRect/>
          </a:stretch>
        </p:blipFill>
        <p:spPr>
          <a:xfrm>
            <a:off x="1573191" y="1343345"/>
            <a:ext cx="9045617" cy="3266303"/>
          </a:xfrm>
          <a:prstGeom prst="rect">
            <a:avLst/>
          </a:prstGeom>
          <a:ln>
            <a:solidFill>
              <a:schemeClr val="tx1"/>
            </a:solidFill>
          </a:ln>
        </p:spPr>
      </p:pic>
      <p:sp>
        <p:nvSpPr>
          <p:cNvPr id="6" name="TextBox 5">
            <a:extLst>
              <a:ext uri="{FF2B5EF4-FFF2-40B4-BE49-F238E27FC236}">
                <a16:creationId xmlns:a16="http://schemas.microsoft.com/office/drawing/2014/main" id="{F501A9C9-AB53-39E6-6A1B-0F3F916CFFEE}"/>
              </a:ext>
            </a:extLst>
          </p:cNvPr>
          <p:cNvSpPr txBox="1"/>
          <p:nvPr/>
        </p:nvSpPr>
        <p:spPr>
          <a:xfrm>
            <a:off x="1573191" y="4892000"/>
            <a:ext cx="9045617" cy="1815882"/>
          </a:xfrm>
          <a:prstGeom prst="rect">
            <a:avLst/>
          </a:prstGeom>
          <a:noFill/>
        </p:spPr>
        <p:txBody>
          <a:bodyPr wrap="square" rtlCol="0">
            <a:spAutoFit/>
          </a:bodyPr>
          <a:lstStyle/>
          <a:p>
            <a:r>
              <a:rPr lang="en-US" sz="1600" dirty="0"/>
              <a:t>1. First Differenced Series:</a:t>
            </a:r>
          </a:p>
          <a:p>
            <a:r>
              <a:rPr lang="en-US" sz="1600" dirty="0"/>
              <a:t>This plot shows the result of differencing the original onion price time series.</a:t>
            </a:r>
          </a:p>
          <a:p>
            <a:r>
              <a:rPr lang="en-US" sz="1600" dirty="0"/>
              <a:t>Differencing helps to reduce volatility and dampen the cyclical patterns.</a:t>
            </a:r>
          </a:p>
          <a:p>
            <a:r>
              <a:rPr lang="en-US" sz="1600" dirty="0"/>
              <a:t>2. Seasonally Differenced Series:</a:t>
            </a:r>
          </a:p>
          <a:p>
            <a:r>
              <a:rPr lang="en-US" sz="1600" dirty="0"/>
              <a:t>This plot shows the result of seasonal differencing.</a:t>
            </a:r>
          </a:p>
          <a:p>
            <a:r>
              <a:rPr lang="en-US" sz="1600" dirty="0"/>
              <a:t>Seasonal differencing effectively removes the seasonal component, leaving a more stationary-looking series.</a:t>
            </a:r>
            <a:endParaRPr lang="en-IN" sz="1600" dirty="0"/>
          </a:p>
        </p:txBody>
      </p:sp>
    </p:spTree>
    <p:extLst>
      <p:ext uri="{BB962C8B-B14F-4D97-AF65-F5344CB8AC3E}">
        <p14:creationId xmlns:p14="http://schemas.microsoft.com/office/powerpoint/2010/main" val="3403684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C251B-7FAB-9019-AAC1-8ACF7405EA94}"/>
              </a:ext>
            </a:extLst>
          </p:cNvPr>
          <p:cNvSpPr>
            <a:spLocks noGrp="1"/>
          </p:cNvSpPr>
          <p:nvPr>
            <p:ph type="title"/>
          </p:nvPr>
        </p:nvSpPr>
        <p:spPr/>
        <p:txBody>
          <a:bodyPr/>
          <a:lstStyle/>
          <a:p>
            <a:r>
              <a:rPr lang="en-IN" dirty="0"/>
              <a:t>ACF and PACF</a:t>
            </a:r>
          </a:p>
        </p:txBody>
      </p:sp>
      <p:sp>
        <p:nvSpPr>
          <p:cNvPr id="3" name="Content Placeholder 2">
            <a:extLst>
              <a:ext uri="{FF2B5EF4-FFF2-40B4-BE49-F238E27FC236}">
                <a16:creationId xmlns:a16="http://schemas.microsoft.com/office/drawing/2014/main" id="{C3491A44-2785-49BD-0D73-B8BC42B0234E}"/>
              </a:ext>
            </a:extLst>
          </p:cNvPr>
          <p:cNvSpPr>
            <a:spLocks noGrp="1"/>
          </p:cNvSpPr>
          <p:nvPr>
            <p:ph idx="1"/>
          </p:nvPr>
        </p:nvSpPr>
        <p:spPr>
          <a:xfrm>
            <a:off x="2416218" y="5123935"/>
            <a:ext cx="8915400" cy="1280890"/>
          </a:xfrm>
        </p:spPr>
        <p:txBody>
          <a:bodyPr/>
          <a:lstStyle/>
          <a:p>
            <a:r>
              <a:rPr lang="en-US" dirty="0"/>
              <a:t>The ACF and PACF plots indicate that an AR(1) model might be appropriate for modeling the differenced time series. This information can be used to select the appropriate parameters for an ARIMA model to forecast the original time series.</a:t>
            </a:r>
            <a:endParaRPr lang="en-IN" dirty="0"/>
          </a:p>
        </p:txBody>
      </p:sp>
      <p:sp>
        <p:nvSpPr>
          <p:cNvPr id="4" name="Slide Number Placeholder 3">
            <a:extLst>
              <a:ext uri="{FF2B5EF4-FFF2-40B4-BE49-F238E27FC236}">
                <a16:creationId xmlns:a16="http://schemas.microsoft.com/office/drawing/2014/main" id="{2AE0D80C-D956-31DE-8420-AB377847195B}"/>
              </a:ext>
            </a:extLst>
          </p:cNvPr>
          <p:cNvSpPr>
            <a:spLocks noGrp="1"/>
          </p:cNvSpPr>
          <p:nvPr>
            <p:ph type="sldNum" sz="quarter" idx="12"/>
          </p:nvPr>
        </p:nvSpPr>
        <p:spPr/>
        <p:txBody>
          <a:bodyPr/>
          <a:lstStyle/>
          <a:p>
            <a:fld id="{0D3E3056-22A3-4E2C-9164-3EEDF19BB457}" type="slidenum">
              <a:rPr lang="en-IN" smtClean="0"/>
              <a:t>34</a:t>
            </a:fld>
            <a:endParaRPr lang="en-IN" dirty="0"/>
          </a:p>
        </p:txBody>
      </p:sp>
      <p:pic>
        <p:nvPicPr>
          <p:cNvPr id="6" name="Picture 5">
            <a:extLst>
              <a:ext uri="{FF2B5EF4-FFF2-40B4-BE49-F238E27FC236}">
                <a16:creationId xmlns:a16="http://schemas.microsoft.com/office/drawing/2014/main" id="{9ABC20A1-C08B-B4B6-FEC4-3442DD773031}"/>
              </a:ext>
            </a:extLst>
          </p:cNvPr>
          <p:cNvPicPr>
            <a:picLocks noChangeAspect="1"/>
          </p:cNvPicPr>
          <p:nvPr/>
        </p:nvPicPr>
        <p:blipFill>
          <a:blip r:embed="rId3"/>
          <a:stretch>
            <a:fillRect/>
          </a:stretch>
        </p:blipFill>
        <p:spPr>
          <a:xfrm>
            <a:off x="2879125" y="2045384"/>
            <a:ext cx="7673546" cy="2907617"/>
          </a:xfrm>
          <a:prstGeom prst="rect">
            <a:avLst/>
          </a:prstGeom>
        </p:spPr>
      </p:pic>
    </p:spTree>
    <p:extLst>
      <p:ext uri="{BB962C8B-B14F-4D97-AF65-F5344CB8AC3E}">
        <p14:creationId xmlns:p14="http://schemas.microsoft.com/office/powerpoint/2010/main" val="1451848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E346-3BEE-17F3-F49D-652B57E9059A}"/>
              </a:ext>
            </a:extLst>
          </p:cNvPr>
          <p:cNvSpPr>
            <a:spLocks noGrp="1"/>
          </p:cNvSpPr>
          <p:nvPr>
            <p:ph type="title"/>
          </p:nvPr>
        </p:nvSpPr>
        <p:spPr>
          <a:xfrm>
            <a:off x="2063579" y="624110"/>
            <a:ext cx="9441034" cy="735133"/>
          </a:xfrm>
        </p:spPr>
        <p:txBody>
          <a:bodyPr/>
          <a:lstStyle/>
          <a:p>
            <a:r>
              <a:rPr lang="en-IN" dirty="0"/>
              <a:t>Fitting a Model and selecting the best </a:t>
            </a:r>
          </a:p>
        </p:txBody>
      </p:sp>
      <p:pic>
        <p:nvPicPr>
          <p:cNvPr id="11" name="Content Placeholder 10">
            <a:extLst>
              <a:ext uri="{FF2B5EF4-FFF2-40B4-BE49-F238E27FC236}">
                <a16:creationId xmlns:a16="http://schemas.microsoft.com/office/drawing/2014/main" id="{C34B4DB2-45D5-5878-2608-741B42E7BD3F}"/>
              </a:ext>
            </a:extLst>
          </p:cNvPr>
          <p:cNvPicPr>
            <a:picLocks noGrp="1" noChangeAspect="1"/>
          </p:cNvPicPr>
          <p:nvPr>
            <p:ph idx="1"/>
          </p:nvPr>
        </p:nvPicPr>
        <p:blipFill>
          <a:blip r:embed="rId2"/>
          <a:stretch>
            <a:fillRect/>
          </a:stretch>
        </p:blipFill>
        <p:spPr>
          <a:xfrm>
            <a:off x="2286000" y="1676155"/>
            <a:ext cx="8285169" cy="2661067"/>
          </a:xfrm>
        </p:spPr>
      </p:pic>
      <p:sp>
        <p:nvSpPr>
          <p:cNvPr id="4" name="Slide Number Placeholder 3">
            <a:extLst>
              <a:ext uri="{FF2B5EF4-FFF2-40B4-BE49-F238E27FC236}">
                <a16:creationId xmlns:a16="http://schemas.microsoft.com/office/drawing/2014/main" id="{3EB3356F-DAC6-6F61-D008-8AB2211EB1FF}"/>
              </a:ext>
            </a:extLst>
          </p:cNvPr>
          <p:cNvSpPr>
            <a:spLocks noGrp="1"/>
          </p:cNvSpPr>
          <p:nvPr>
            <p:ph type="sldNum" sz="quarter" idx="12"/>
          </p:nvPr>
        </p:nvSpPr>
        <p:spPr/>
        <p:txBody>
          <a:bodyPr/>
          <a:lstStyle/>
          <a:p>
            <a:fld id="{0D3E3056-22A3-4E2C-9164-3EEDF19BB457}" type="slidenum">
              <a:rPr lang="en-IN" smtClean="0"/>
              <a:t>35</a:t>
            </a:fld>
            <a:endParaRPr lang="en-IN" dirty="0"/>
          </a:p>
        </p:txBody>
      </p:sp>
      <p:sp>
        <p:nvSpPr>
          <p:cNvPr id="12" name="TextBox 11">
            <a:extLst>
              <a:ext uri="{FF2B5EF4-FFF2-40B4-BE49-F238E27FC236}">
                <a16:creationId xmlns:a16="http://schemas.microsoft.com/office/drawing/2014/main" id="{510A8658-A3E5-E976-DB3E-4EA661DC223D}"/>
              </a:ext>
            </a:extLst>
          </p:cNvPr>
          <p:cNvSpPr txBox="1"/>
          <p:nvPr/>
        </p:nvSpPr>
        <p:spPr>
          <a:xfrm>
            <a:off x="2434281" y="4654134"/>
            <a:ext cx="8136888" cy="1477328"/>
          </a:xfrm>
          <a:prstGeom prst="rect">
            <a:avLst/>
          </a:prstGeom>
          <a:noFill/>
        </p:spPr>
        <p:txBody>
          <a:bodyPr wrap="square" rtlCol="0">
            <a:spAutoFit/>
          </a:bodyPr>
          <a:lstStyle/>
          <a:p>
            <a:endParaRPr lang="en-US" dirty="0"/>
          </a:p>
          <a:p>
            <a:r>
              <a:rPr lang="en-US" dirty="0"/>
              <a:t>The </a:t>
            </a:r>
            <a:r>
              <a:rPr lang="en-US" b="1" dirty="0"/>
              <a:t>SARIMA(2,1,0)(1,1,1)</a:t>
            </a:r>
            <a:r>
              <a:rPr lang="en-US" dirty="0"/>
              <a:t> model is the best fit for the data due to its lowest AIC (2015.95), indicating optimal model selection. While its RMSE and MAE are slightly higher than SARIMA(1,1,1)(0,1,1)[12], it provides a better balance between accuracy and complexity.</a:t>
            </a:r>
          </a:p>
        </p:txBody>
      </p:sp>
    </p:spTree>
    <p:extLst>
      <p:ext uri="{BB962C8B-B14F-4D97-AF65-F5344CB8AC3E}">
        <p14:creationId xmlns:p14="http://schemas.microsoft.com/office/powerpoint/2010/main" val="808292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E3E1-ECB5-A3C7-63F5-A55CA907D1B8}"/>
              </a:ext>
            </a:extLst>
          </p:cNvPr>
          <p:cNvSpPr>
            <a:spLocks noGrp="1"/>
          </p:cNvSpPr>
          <p:nvPr>
            <p:ph type="title"/>
          </p:nvPr>
        </p:nvSpPr>
        <p:spPr>
          <a:xfrm>
            <a:off x="1890644" y="512462"/>
            <a:ext cx="8911687" cy="760284"/>
          </a:xfrm>
        </p:spPr>
        <p:txBody>
          <a:bodyPr/>
          <a:lstStyle/>
          <a:p>
            <a:r>
              <a:rPr lang="en-IN" dirty="0"/>
              <a:t>Residual Diagnosis for model </a:t>
            </a:r>
          </a:p>
        </p:txBody>
      </p:sp>
      <p:sp>
        <p:nvSpPr>
          <p:cNvPr id="4" name="Slide Number Placeholder 3">
            <a:extLst>
              <a:ext uri="{FF2B5EF4-FFF2-40B4-BE49-F238E27FC236}">
                <a16:creationId xmlns:a16="http://schemas.microsoft.com/office/drawing/2014/main" id="{9B190249-22CF-A1B7-4729-2BD33C6397FA}"/>
              </a:ext>
            </a:extLst>
          </p:cNvPr>
          <p:cNvSpPr>
            <a:spLocks noGrp="1"/>
          </p:cNvSpPr>
          <p:nvPr>
            <p:ph type="sldNum" sz="quarter" idx="12"/>
          </p:nvPr>
        </p:nvSpPr>
        <p:spPr/>
        <p:txBody>
          <a:bodyPr/>
          <a:lstStyle/>
          <a:p>
            <a:fld id="{0D3E3056-22A3-4E2C-9164-3EEDF19BB457}" type="slidenum">
              <a:rPr lang="en-IN" smtClean="0"/>
              <a:t>36</a:t>
            </a:fld>
            <a:endParaRPr lang="en-IN" dirty="0"/>
          </a:p>
        </p:txBody>
      </p:sp>
      <p:pic>
        <p:nvPicPr>
          <p:cNvPr id="5" name="Content Placeholder 4">
            <a:extLst>
              <a:ext uri="{FF2B5EF4-FFF2-40B4-BE49-F238E27FC236}">
                <a16:creationId xmlns:a16="http://schemas.microsoft.com/office/drawing/2014/main" id="{76C9B72F-0E04-D281-21A9-53BD35360A8D}"/>
              </a:ext>
            </a:extLst>
          </p:cNvPr>
          <p:cNvPicPr>
            <a:picLocks noGrp="1" noChangeAspect="1"/>
          </p:cNvPicPr>
          <p:nvPr>
            <p:ph idx="1"/>
          </p:nvPr>
        </p:nvPicPr>
        <p:blipFill>
          <a:blip r:embed="rId2"/>
          <a:stretch>
            <a:fillRect/>
          </a:stretch>
        </p:blipFill>
        <p:spPr>
          <a:xfrm>
            <a:off x="2925230" y="1408670"/>
            <a:ext cx="7245019" cy="3422822"/>
          </a:xfrm>
          <a:prstGeom prst="rect">
            <a:avLst/>
          </a:prstGeom>
          <a:ln>
            <a:solidFill>
              <a:schemeClr val="tx1"/>
            </a:solidFill>
          </a:ln>
        </p:spPr>
      </p:pic>
      <p:sp>
        <p:nvSpPr>
          <p:cNvPr id="6" name="TextBox 5">
            <a:extLst>
              <a:ext uri="{FF2B5EF4-FFF2-40B4-BE49-F238E27FC236}">
                <a16:creationId xmlns:a16="http://schemas.microsoft.com/office/drawing/2014/main" id="{8CED176C-36EC-4B85-671C-2ADB376B1826}"/>
              </a:ext>
            </a:extLst>
          </p:cNvPr>
          <p:cNvSpPr txBox="1"/>
          <p:nvPr/>
        </p:nvSpPr>
        <p:spPr>
          <a:xfrm>
            <a:off x="1705231" y="5202195"/>
            <a:ext cx="9897763" cy="1477328"/>
          </a:xfrm>
          <a:prstGeom prst="rect">
            <a:avLst/>
          </a:prstGeom>
          <a:noFill/>
        </p:spPr>
        <p:txBody>
          <a:bodyPr wrap="square" rtlCol="0">
            <a:spAutoFit/>
          </a:bodyPr>
          <a:lstStyle/>
          <a:p>
            <a:r>
              <a:rPr lang="en-US" dirty="0"/>
              <a:t>The top plot shows the residuals from an ARIMA(2,1,0)(1,1,1)[12] model. The ACF plot of the residuals indicates that the model has captured most of the autocorrelation in the data, as there are no significant spikes. The histogram and density plot suggest that the residuals are approximately normally distributed, which is a key assumption for many time series models.</a:t>
            </a:r>
            <a:endParaRPr lang="en-IN" dirty="0"/>
          </a:p>
        </p:txBody>
      </p:sp>
    </p:spTree>
    <p:extLst>
      <p:ext uri="{BB962C8B-B14F-4D97-AF65-F5344CB8AC3E}">
        <p14:creationId xmlns:p14="http://schemas.microsoft.com/office/powerpoint/2010/main" val="288373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F4BA2-BF61-AEC3-A4B3-54905CB7E12D}"/>
              </a:ext>
            </a:extLst>
          </p:cNvPr>
          <p:cNvSpPr>
            <a:spLocks noGrp="1"/>
          </p:cNvSpPr>
          <p:nvPr>
            <p:ph type="title"/>
          </p:nvPr>
        </p:nvSpPr>
        <p:spPr/>
        <p:txBody>
          <a:bodyPr/>
          <a:lstStyle/>
          <a:p>
            <a:r>
              <a:rPr lang="en-IN" dirty="0"/>
              <a:t>Sarima forecast</a:t>
            </a:r>
          </a:p>
        </p:txBody>
      </p:sp>
      <p:sp>
        <p:nvSpPr>
          <p:cNvPr id="4" name="Slide Number Placeholder 3">
            <a:extLst>
              <a:ext uri="{FF2B5EF4-FFF2-40B4-BE49-F238E27FC236}">
                <a16:creationId xmlns:a16="http://schemas.microsoft.com/office/drawing/2014/main" id="{68D7F4BC-D7DF-CCC8-D883-BABE1861E053}"/>
              </a:ext>
            </a:extLst>
          </p:cNvPr>
          <p:cNvSpPr>
            <a:spLocks noGrp="1"/>
          </p:cNvSpPr>
          <p:nvPr>
            <p:ph type="sldNum" sz="quarter" idx="12"/>
          </p:nvPr>
        </p:nvSpPr>
        <p:spPr/>
        <p:txBody>
          <a:bodyPr/>
          <a:lstStyle/>
          <a:p>
            <a:fld id="{0D3E3056-22A3-4E2C-9164-3EEDF19BB457}" type="slidenum">
              <a:rPr lang="en-IN" smtClean="0"/>
              <a:t>37</a:t>
            </a:fld>
            <a:endParaRPr lang="en-IN" dirty="0"/>
          </a:p>
        </p:txBody>
      </p:sp>
      <p:pic>
        <p:nvPicPr>
          <p:cNvPr id="5" name="Content Placeholder 4">
            <a:extLst>
              <a:ext uri="{FF2B5EF4-FFF2-40B4-BE49-F238E27FC236}">
                <a16:creationId xmlns:a16="http://schemas.microsoft.com/office/drawing/2014/main" id="{79237B92-4CA2-F0CB-3DB5-0C56322DB8C6}"/>
              </a:ext>
            </a:extLst>
          </p:cNvPr>
          <p:cNvPicPr>
            <a:picLocks noGrp="1" noChangeAspect="1"/>
          </p:cNvPicPr>
          <p:nvPr>
            <p:ph idx="1"/>
          </p:nvPr>
        </p:nvPicPr>
        <p:blipFill>
          <a:blip r:embed="rId2"/>
          <a:stretch>
            <a:fillRect/>
          </a:stretch>
        </p:blipFill>
        <p:spPr>
          <a:xfrm>
            <a:off x="2137718" y="1572049"/>
            <a:ext cx="7920681" cy="2542751"/>
          </a:xfrm>
          <a:prstGeom prst="rect">
            <a:avLst/>
          </a:prstGeom>
          <a:ln>
            <a:solidFill>
              <a:schemeClr val="tx1"/>
            </a:solidFill>
          </a:ln>
        </p:spPr>
      </p:pic>
      <p:sp>
        <p:nvSpPr>
          <p:cNvPr id="6" name="TextBox 5">
            <a:extLst>
              <a:ext uri="{FF2B5EF4-FFF2-40B4-BE49-F238E27FC236}">
                <a16:creationId xmlns:a16="http://schemas.microsoft.com/office/drawing/2014/main" id="{9AAA90F5-68B4-8466-371E-0D5737603121}"/>
              </a:ext>
            </a:extLst>
          </p:cNvPr>
          <p:cNvSpPr txBox="1"/>
          <p:nvPr/>
        </p:nvSpPr>
        <p:spPr>
          <a:xfrm>
            <a:off x="1606379" y="4473146"/>
            <a:ext cx="8452020" cy="1477328"/>
          </a:xfrm>
          <a:prstGeom prst="rect">
            <a:avLst/>
          </a:prstGeom>
          <a:noFill/>
        </p:spPr>
        <p:txBody>
          <a:bodyPr wrap="square" rtlCol="0">
            <a:spAutoFit/>
          </a:bodyPr>
          <a:lstStyle/>
          <a:p>
            <a:r>
              <a:rPr lang="en-US" dirty="0"/>
              <a:t>This plot shows the forecasted modal onion prices using a SARIMA model. The blue line represents the point forecast, while the shaded area represents the prediction interval, indicating the uncertainty associated with the forecast. The forecast suggests a potential increase in modal prices in the near future.</a:t>
            </a:r>
            <a:endParaRPr lang="en-IN" dirty="0"/>
          </a:p>
        </p:txBody>
      </p:sp>
    </p:spTree>
    <p:extLst>
      <p:ext uri="{BB962C8B-B14F-4D97-AF65-F5344CB8AC3E}">
        <p14:creationId xmlns:p14="http://schemas.microsoft.com/office/powerpoint/2010/main" val="2930183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7952-FECB-DC69-2BBC-2D34774514A5}"/>
              </a:ext>
            </a:extLst>
          </p:cNvPr>
          <p:cNvSpPr>
            <a:spLocks noGrp="1"/>
          </p:cNvSpPr>
          <p:nvPr>
            <p:ph type="title"/>
          </p:nvPr>
        </p:nvSpPr>
        <p:spPr>
          <a:xfrm>
            <a:off x="2026509" y="624110"/>
            <a:ext cx="9478104" cy="528797"/>
          </a:xfrm>
        </p:spPr>
        <p:txBody>
          <a:bodyPr>
            <a:normAutofit fontScale="90000"/>
          </a:bodyPr>
          <a:lstStyle/>
          <a:p>
            <a:r>
              <a:rPr lang="en-IN" dirty="0"/>
              <a:t>Time series Actual and  fitted values plot</a:t>
            </a:r>
          </a:p>
        </p:txBody>
      </p:sp>
      <p:sp>
        <p:nvSpPr>
          <p:cNvPr id="4" name="Slide Number Placeholder 3">
            <a:extLst>
              <a:ext uri="{FF2B5EF4-FFF2-40B4-BE49-F238E27FC236}">
                <a16:creationId xmlns:a16="http://schemas.microsoft.com/office/drawing/2014/main" id="{A6739A4A-DD99-B74D-CF57-3532C6A37961}"/>
              </a:ext>
            </a:extLst>
          </p:cNvPr>
          <p:cNvSpPr>
            <a:spLocks noGrp="1"/>
          </p:cNvSpPr>
          <p:nvPr>
            <p:ph type="sldNum" sz="quarter" idx="12"/>
          </p:nvPr>
        </p:nvSpPr>
        <p:spPr/>
        <p:txBody>
          <a:bodyPr/>
          <a:lstStyle/>
          <a:p>
            <a:fld id="{0D3E3056-22A3-4E2C-9164-3EEDF19BB457}" type="slidenum">
              <a:rPr lang="en-IN" smtClean="0"/>
              <a:t>38</a:t>
            </a:fld>
            <a:endParaRPr lang="en-IN" dirty="0"/>
          </a:p>
        </p:txBody>
      </p:sp>
      <p:pic>
        <p:nvPicPr>
          <p:cNvPr id="5" name="Content Placeholder 4">
            <a:extLst>
              <a:ext uri="{FF2B5EF4-FFF2-40B4-BE49-F238E27FC236}">
                <a16:creationId xmlns:a16="http://schemas.microsoft.com/office/drawing/2014/main" id="{3C60C152-0BF2-BE98-28E6-7F0040179414}"/>
              </a:ext>
            </a:extLst>
          </p:cNvPr>
          <p:cNvPicPr>
            <a:picLocks noGrp="1" noChangeAspect="1"/>
          </p:cNvPicPr>
          <p:nvPr>
            <p:ph idx="1"/>
          </p:nvPr>
        </p:nvPicPr>
        <p:blipFill>
          <a:blip r:embed="rId2"/>
          <a:stretch>
            <a:fillRect/>
          </a:stretch>
        </p:blipFill>
        <p:spPr>
          <a:xfrm>
            <a:off x="2372497" y="1264555"/>
            <a:ext cx="7849065" cy="3134450"/>
          </a:xfrm>
          <a:prstGeom prst="rect">
            <a:avLst/>
          </a:prstGeom>
          <a:ln>
            <a:solidFill>
              <a:schemeClr val="tx1"/>
            </a:solidFill>
          </a:ln>
        </p:spPr>
      </p:pic>
      <p:sp>
        <p:nvSpPr>
          <p:cNvPr id="7" name="TextBox 6">
            <a:extLst>
              <a:ext uri="{FF2B5EF4-FFF2-40B4-BE49-F238E27FC236}">
                <a16:creationId xmlns:a16="http://schemas.microsoft.com/office/drawing/2014/main" id="{5DC7CDF8-97BE-B0E0-A8FB-CAEA2AC5DB7F}"/>
              </a:ext>
            </a:extLst>
          </p:cNvPr>
          <p:cNvSpPr txBox="1"/>
          <p:nvPr/>
        </p:nvSpPr>
        <p:spPr>
          <a:xfrm>
            <a:off x="2838965" y="4743105"/>
            <a:ext cx="6098058" cy="646331"/>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The fitted values closely align with actual prices, demonstrating the model's ability to capture trends and seasonality</a:t>
            </a:r>
            <a:endParaRPr lang="en-IN" dirty="0"/>
          </a:p>
        </p:txBody>
      </p:sp>
    </p:spTree>
    <p:extLst>
      <p:ext uri="{BB962C8B-B14F-4D97-AF65-F5344CB8AC3E}">
        <p14:creationId xmlns:p14="http://schemas.microsoft.com/office/powerpoint/2010/main" val="9128679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2446-238E-6FE2-39D0-29C0CF97E4E8}"/>
              </a:ext>
            </a:extLst>
          </p:cNvPr>
          <p:cNvSpPr>
            <a:spLocks noGrp="1"/>
          </p:cNvSpPr>
          <p:nvPr>
            <p:ph type="title"/>
          </p:nvPr>
        </p:nvSpPr>
        <p:spPr/>
        <p:txBody>
          <a:bodyPr/>
          <a:lstStyle/>
          <a:p>
            <a:r>
              <a:rPr lang="en-IN" dirty="0"/>
              <a:t>Holt winters multiplicative model</a:t>
            </a:r>
          </a:p>
        </p:txBody>
      </p:sp>
      <p:sp>
        <p:nvSpPr>
          <p:cNvPr id="3" name="Content Placeholder 2">
            <a:extLst>
              <a:ext uri="{FF2B5EF4-FFF2-40B4-BE49-F238E27FC236}">
                <a16:creationId xmlns:a16="http://schemas.microsoft.com/office/drawing/2014/main" id="{E52FDEC4-02C5-155C-FFE4-EA426B373FDB}"/>
              </a:ext>
            </a:extLst>
          </p:cNvPr>
          <p:cNvSpPr>
            <a:spLocks noGrp="1"/>
          </p:cNvSpPr>
          <p:nvPr>
            <p:ph idx="1"/>
          </p:nvPr>
        </p:nvSpPr>
        <p:spPr>
          <a:xfrm>
            <a:off x="2484097" y="1540189"/>
            <a:ext cx="8915400" cy="1470640"/>
          </a:xfrm>
        </p:spPr>
        <p:txBody>
          <a:bodyPr/>
          <a:lstStyle/>
          <a:p>
            <a:r>
              <a:rPr lang="en-IN" sz="1800" b="1" kern="100" dirty="0">
                <a:effectLst/>
                <a:ea typeface="Calibri" panose="020F0502020204030204" pitchFamily="34" charset="0"/>
                <a:cs typeface="Times New Roman" panose="02020603050405020304" pitchFamily="18" charset="0"/>
              </a:rPr>
              <a:t>The Holt-Winters multiplicative model is a popular method for forecasting time series data that exhibits both trend and seasonality. This method is based on exponential smoothing and assumes that the seasonal variations in the data change proportionally (multiplicatively) with the trend.</a:t>
            </a:r>
          </a:p>
          <a:p>
            <a:endParaRPr lang="en-IN" dirty="0"/>
          </a:p>
        </p:txBody>
      </p:sp>
      <p:sp>
        <p:nvSpPr>
          <p:cNvPr id="4" name="Slide Number Placeholder 3">
            <a:extLst>
              <a:ext uri="{FF2B5EF4-FFF2-40B4-BE49-F238E27FC236}">
                <a16:creationId xmlns:a16="http://schemas.microsoft.com/office/drawing/2014/main" id="{D83AB78A-4107-E6CA-31E9-8E620126276B}"/>
              </a:ext>
            </a:extLst>
          </p:cNvPr>
          <p:cNvSpPr>
            <a:spLocks noGrp="1"/>
          </p:cNvSpPr>
          <p:nvPr>
            <p:ph type="sldNum" sz="quarter" idx="12"/>
          </p:nvPr>
        </p:nvSpPr>
        <p:spPr/>
        <p:txBody>
          <a:bodyPr/>
          <a:lstStyle/>
          <a:p>
            <a:fld id="{0D3E3056-22A3-4E2C-9164-3EEDF19BB457}" type="slidenum">
              <a:rPr lang="en-IN" smtClean="0"/>
              <a:t>39</a:t>
            </a:fld>
            <a:endParaRPr lang="en-IN" dirty="0"/>
          </a:p>
        </p:txBody>
      </p:sp>
    </p:spTree>
    <p:extLst>
      <p:ext uri="{BB962C8B-B14F-4D97-AF65-F5344CB8AC3E}">
        <p14:creationId xmlns:p14="http://schemas.microsoft.com/office/powerpoint/2010/main" val="13302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6F0E-0EA1-3618-FE99-28E43D570EE7}"/>
              </a:ext>
            </a:extLst>
          </p:cNvPr>
          <p:cNvSpPr>
            <a:spLocks noGrp="1"/>
          </p:cNvSpPr>
          <p:nvPr>
            <p:ph type="title"/>
          </p:nvPr>
        </p:nvSpPr>
        <p:spPr/>
        <p:txBody>
          <a:bodyPr/>
          <a:lstStyle/>
          <a:p>
            <a:r>
              <a:rPr lang="en-IN" dirty="0"/>
              <a:t>Actual and Fitted value plot</a:t>
            </a:r>
          </a:p>
        </p:txBody>
      </p:sp>
      <p:sp>
        <p:nvSpPr>
          <p:cNvPr id="4" name="Slide Number Placeholder 3">
            <a:extLst>
              <a:ext uri="{FF2B5EF4-FFF2-40B4-BE49-F238E27FC236}">
                <a16:creationId xmlns:a16="http://schemas.microsoft.com/office/drawing/2014/main" id="{DDBFA08A-7B06-1159-85D5-96FFCFC91EF1}"/>
              </a:ext>
            </a:extLst>
          </p:cNvPr>
          <p:cNvSpPr>
            <a:spLocks noGrp="1"/>
          </p:cNvSpPr>
          <p:nvPr>
            <p:ph type="sldNum" sz="quarter" idx="12"/>
          </p:nvPr>
        </p:nvSpPr>
        <p:spPr/>
        <p:txBody>
          <a:bodyPr/>
          <a:lstStyle/>
          <a:p>
            <a:fld id="{0D3E3056-22A3-4E2C-9164-3EEDF19BB457}" type="slidenum">
              <a:rPr lang="en-IN" smtClean="0"/>
              <a:t>40</a:t>
            </a:fld>
            <a:endParaRPr lang="en-IN" dirty="0"/>
          </a:p>
        </p:txBody>
      </p:sp>
      <p:pic>
        <p:nvPicPr>
          <p:cNvPr id="5" name="Content Placeholder 4">
            <a:extLst>
              <a:ext uri="{FF2B5EF4-FFF2-40B4-BE49-F238E27FC236}">
                <a16:creationId xmlns:a16="http://schemas.microsoft.com/office/drawing/2014/main" id="{B52CF26B-0CBA-8CDB-52D4-698502B6163F}"/>
              </a:ext>
            </a:extLst>
          </p:cNvPr>
          <p:cNvPicPr>
            <a:picLocks noGrp="1" noChangeAspect="1"/>
          </p:cNvPicPr>
          <p:nvPr>
            <p:ph idx="1"/>
          </p:nvPr>
        </p:nvPicPr>
        <p:blipFill>
          <a:blip r:embed="rId2"/>
          <a:stretch>
            <a:fillRect/>
          </a:stretch>
        </p:blipFill>
        <p:spPr>
          <a:xfrm>
            <a:off x="2124574" y="1454961"/>
            <a:ext cx="8535992" cy="3380952"/>
          </a:xfrm>
          <a:prstGeom prst="rect">
            <a:avLst/>
          </a:prstGeom>
          <a:ln>
            <a:solidFill>
              <a:schemeClr val="tx1"/>
            </a:solidFill>
          </a:ln>
        </p:spPr>
      </p:pic>
      <p:sp>
        <p:nvSpPr>
          <p:cNvPr id="7" name="TextBox 6">
            <a:extLst>
              <a:ext uri="{FF2B5EF4-FFF2-40B4-BE49-F238E27FC236}">
                <a16:creationId xmlns:a16="http://schemas.microsoft.com/office/drawing/2014/main" id="{3631AEC9-7D95-B243-ECB0-A1A5B513ED4C}"/>
              </a:ext>
            </a:extLst>
          </p:cNvPr>
          <p:cNvSpPr txBox="1"/>
          <p:nvPr/>
        </p:nvSpPr>
        <p:spPr>
          <a:xfrm>
            <a:off x="2124574" y="4941374"/>
            <a:ext cx="8535992" cy="923330"/>
          </a:xfrm>
          <a:prstGeom prst="rect">
            <a:avLst/>
          </a:prstGeom>
          <a:noFill/>
        </p:spPr>
        <p:txBody>
          <a:bodyPr wrap="square">
            <a:spAutoFit/>
          </a:bodyPr>
          <a:lstStyle/>
          <a:p>
            <a:r>
              <a:rPr lang="en-IN" sz="1800" b="1" dirty="0">
                <a:effectLst/>
                <a:ea typeface="Calibri" panose="020F0502020204030204" pitchFamily="34" charset="0"/>
              </a:rPr>
              <a:t>The Holt-Winters model demonstrates strong performance in capturing the seasonal patterns and overall trend in modal onion prices from 2013 to 2024.</a:t>
            </a:r>
            <a:endParaRPr lang="en-IN" dirty="0"/>
          </a:p>
        </p:txBody>
      </p:sp>
    </p:spTree>
    <p:extLst>
      <p:ext uri="{BB962C8B-B14F-4D97-AF65-F5344CB8AC3E}">
        <p14:creationId xmlns:p14="http://schemas.microsoft.com/office/powerpoint/2010/main" val="20669330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6495-238C-9765-8AA1-3259EEB18863}"/>
              </a:ext>
            </a:extLst>
          </p:cNvPr>
          <p:cNvSpPr>
            <a:spLocks noGrp="1"/>
          </p:cNvSpPr>
          <p:nvPr>
            <p:ph type="title"/>
          </p:nvPr>
        </p:nvSpPr>
        <p:spPr/>
        <p:txBody>
          <a:bodyPr/>
          <a:lstStyle/>
          <a:p>
            <a:r>
              <a:rPr lang="en-IN" dirty="0">
                <a:solidFill>
                  <a:schemeClr val="tx1"/>
                </a:solidFill>
              </a:rPr>
              <a:t>Forecast plot for Holt winters</a:t>
            </a:r>
          </a:p>
        </p:txBody>
      </p:sp>
      <p:sp>
        <p:nvSpPr>
          <p:cNvPr id="4" name="Slide Number Placeholder 3">
            <a:extLst>
              <a:ext uri="{FF2B5EF4-FFF2-40B4-BE49-F238E27FC236}">
                <a16:creationId xmlns:a16="http://schemas.microsoft.com/office/drawing/2014/main" id="{0AFD522E-605B-3621-6550-CB1D8DF4B637}"/>
              </a:ext>
            </a:extLst>
          </p:cNvPr>
          <p:cNvSpPr>
            <a:spLocks noGrp="1"/>
          </p:cNvSpPr>
          <p:nvPr>
            <p:ph type="sldNum" sz="quarter" idx="12"/>
          </p:nvPr>
        </p:nvSpPr>
        <p:spPr/>
        <p:txBody>
          <a:bodyPr/>
          <a:lstStyle/>
          <a:p>
            <a:fld id="{0D3E3056-22A3-4E2C-9164-3EEDF19BB457}" type="slidenum">
              <a:rPr lang="en-IN" smtClean="0"/>
              <a:t>41</a:t>
            </a:fld>
            <a:endParaRPr lang="en-IN" dirty="0"/>
          </a:p>
        </p:txBody>
      </p:sp>
      <p:pic>
        <p:nvPicPr>
          <p:cNvPr id="5" name="Content Placeholder 4">
            <a:extLst>
              <a:ext uri="{FF2B5EF4-FFF2-40B4-BE49-F238E27FC236}">
                <a16:creationId xmlns:a16="http://schemas.microsoft.com/office/drawing/2014/main" id="{5F113A55-E2AC-3817-9C41-AEB03C07808A}"/>
              </a:ext>
            </a:extLst>
          </p:cNvPr>
          <p:cNvPicPr>
            <a:picLocks noGrp="1" noChangeAspect="1"/>
          </p:cNvPicPr>
          <p:nvPr>
            <p:ph idx="1"/>
          </p:nvPr>
        </p:nvPicPr>
        <p:blipFill>
          <a:blip r:embed="rId2"/>
          <a:stretch>
            <a:fillRect/>
          </a:stretch>
        </p:blipFill>
        <p:spPr>
          <a:xfrm>
            <a:off x="2592925" y="1678629"/>
            <a:ext cx="7160602" cy="3500741"/>
          </a:xfrm>
          <a:prstGeom prst="rect">
            <a:avLst/>
          </a:prstGeom>
          <a:ln>
            <a:solidFill>
              <a:schemeClr val="tx1"/>
            </a:solidFill>
          </a:ln>
        </p:spPr>
      </p:pic>
      <p:sp>
        <p:nvSpPr>
          <p:cNvPr id="7" name="TextBox 6">
            <a:extLst>
              <a:ext uri="{FF2B5EF4-FFF2-40B4-BE49-F238E27FC236}">
                <a16:creationId xmlns:a16="http://schemas.microsoft.com/office/drawing/2014/main" id="{4BE47B56-7295-117F-1C37-F33F535AEF3C}"/>
              </a:ext>
            </a:extLst>
          </p:cNvPr>
          <p:cNvSpPr txBox="1"/>
          <p:nvPr/>
        </p:nvSpPr>
        <p:spPr>
          <a:xfrm>
            <a:off x="2592925" y="5488705"/>
            <a:ext cx="7160602" cy="923330"/>
          </a:xfrm>
          <a:prstGeom prst="rect">
            <a:avLst/>
          </a:prstGeom>
          <a:noFill/>
        </p:spPr>
        <p:txBody>
          <a:bodyPr wrap="square">
            <a:spAutoFit/>
          </a:bodyPr>
          <a:lstStyle/>
          <a:p>
            <a:r>
              <a:rPr lang="en-IN" sz="1800" b="1" dirty="0">
                <a:effectLst/>
                <a:ea typeface="Calibri" panose="020F0502020204030204" pitchFamily="34" charset="0"/>
              </a:rPr>
              <a:t>The Holt-Winters forecast accurately captures historical seasonality and trends, with reliable short-term predictions (2025-2026). </a:t>
            </a:r>
            <a:endParaRPr lang="en-IN" dirty="0"/>
          </a:p>
        </p:txBody>
      </p:sp>
    </p:spTree>
    <p:extLst>
      <p:ext uri="{BB962C8B-B14F-4D97-AF65-F5344CB8AC3E}">
        <p14:creationId xmlns:p14="http://schemas.microsoft.com/office/powerpoint/2010/main" val="3879090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8615-BDDB-665B-208F-2F087A76304F}"/>
              </a:ext>
            </a:extLst>
          </p:cNvPr>
          <p:cNvSpPr>
            <a:spLocks noGrp="1"/>
          </p:cNvSpPr>
          <p:nvPr>
            <p:ph type="ctrTitle"/>
          </p:nvPr>
        </p:nvSpPr>
        <p:spPr>
          <a:xfrm>
            <a:off x="1524000" y="171856"/>
            <a:ext cx="5890054" cy="1013934"/>
          </a:xfrm>
        </p:spPr>
        <p:txBody>
          <a:bodyPr/>
          <a:lstStyle/>
          <a:p>
            <a:r>
              <a:rPr lang="en-IN" dirty="0">
                <a:solidFill>
                  <a:srgbClr val="C00000"/>
                </a:solidFill>
              </a:rPr>
              <a:t>Conclusions</a:t>
            </a:r>
            <a:r>
              <a:rPr lang="en-IN" dirty="0"/>
              <a:t> </a:t>
            </a:r>
          </a:p>
        </p:txBody>
      </p:sp>
      <p:sp>
        <p:nvSpPr>
          <p:cNvPr id="4" name="Slide Number Placeholder 3">
            <a:extLst>
              <a:ext uri="{FF2B5EF4-FFF2-40B4-BE49-F238E27FC236}">
                <a16:creationId xmlns:a16="http://schemas.microsoft.com/office/drawing/2014/main" id="{6EDC353B-1426-FEAC-6E7B-B3131A7CE246}"/>
              </a:ext>
            </a:extLst>
          </p:cNvPr>
          <p:cNvSpPr>
            <a:spLocks noGrp="1"/>
          </p:cNvSpPr>
          <p:nvPr>
            <p:ph type="sldNum" sz="quarter" idx="12"/>
          </p:nvPr>
        </p:nvSpPr>
        <p:spPr/>
        <p:txBody>
          <a:bodyPr/>
          <a:lstStyle/>
          <a:p>
            <a:fld id="{0D3E3056-22A3-4E2C-9164-3EEDF19BB457}" type="slidenum">
              <a:rPr lang="en-IN" smtClean="0"/>
              <a:t>42</a:t>
            </a:fld>
            <a:endParaRPr lang="en-IN" dirty="0"/>
          </a:p>
        </p:txBody>
      </p:sp>
      <p:sp>
        <p:nvSpPr>
          <p:cNvPr id="6" name="Subtitle 5">
            <a:extLst>
              <a:ext uri="{FF2B5EF4-FFF2-40B4-BE49-F238E27FC236}">
                <a16:creationId xmlns:a16="http://schemas.microsoft.com/office/drawing/2014/main" id="{19DAF99A-DD1A-556E-27DB-4ABAA8B694B9}"/>
              </a:ext>
            </a:extLst>
          </p:cNvPr>
          <p:cNvSpPr>
            <a:spLocks noGrp="1"/>
          </p:cNvSpPr>
          <p:nvPr>
            <p:ph type="subTitle" idx="1"/>
          </p:nvPr>
        </p:nvSpPr>
        <p:spPr>
          <a:xfrm>
            <a:off x="1779372" y="1651118"/>
            <a:ext cx="10083113" cy="3872351"/>
          </a:xfrm>
        </p:spPr>
        <p:txBody>
          <a:bodyPr>
            <a:normAutofit fontScale="92500" lnSpcReduction="10000"/>
          </a:bodyPr>
          <a:lstStyle/>
          <a:p>
            <a:r>
              <a:rPr lang="en-US" b="1" dirty="0"/>
              <a:t>1</a:t>
            </a:r>
            <a:r>
              <a:rPr lang="en-US" sz="1400" b="1" dirty="0"/>
              <a:t>)During COVID, onion arrivals increased compared to pre-COVID  but were lower than post-COVID levels , reflecting supply chain recovery. Prices significantly rose during </a:t>
            </a:r>
            <a:r>
              <a:rPr lang="en-US" sz="1400" b="1"/>
              <a:t>COVID and </a:t>
            </a:r>
            <a:r>
              <a:rPr lang="en-US" sz="1400" b="1" dirty="0"/>
              <a:t>remained slightly higher post-COVID  indicating lasting pandemic effects on supply and pricing.</a:t>
            </a:r>
          </a:p>
          <a:p>
            <a:endParaRPr lang="en-US" sz="1400" b="1" dirty="0"/>
          </a:p>
          <a:p>
            <a:r>
              <a:rPr lang="en-US" sz="1400" b="1" dirty="0"/>
              <a:t>2)Onion prices significantly increased from pre-COVID to during COVID and further rose post-COVID, reflecting sustained price effects. While there was no significant change in arrivals between pre-COVID and during COVID, arrivals during COVID were significantly higher than post-COVID, indicating supply chain adjustments post-pandemic.( Pune District)</a:t>
            </a:r>
          </a:p>
          <a:p>
            <a:endParaRPr lang="en-US" sz="1400" b="1" dirty="0"/>
          </a:p>
          <a:p>
            <a:r>
              <a:rPr lang="en-US" sz="1400" b="1" dirty="0"/>
              <a:t>3)</a:t>
            </a:r>
            <a:r>
              <a:rPr lang="en-US" sz="1400" dirty="0"/>
              <a:t> </a:t>
            </a:r>
            <a:r>
              <a:rPr lang="en-US" sz="1400" b="1" dirty="0"/>
              <a:t>The SARIMA model forecast indicates a slight increase in onion prices for 2025–2026, continuing the observed seasonal trends from historical data. The forecast captures seasonal patterns effectively, with confidence intervals showing increasing uncertainty over time. </a:t>
            </a:r>
            <a:br>
              <a:rPr lang="en-US" sz="1400" b="1" dirty="0"/>
            </a:br>
            <a:endParaRPr lang="en-US" sz="1400" b="1" dirty="0"/>
          </a:p>
          <a:p>
            <a:r>
              <a:rPr lang="en-US" sz="1400" b="1" dirty="0"/>
              <a:t>4) The Holt-Winters model effectively captures the seasonality and trends in onion prices, providing reliable short-term forecasts (2025–2026).</a:t>
            </a:r>
          </a:p>
          <a:p>
            <a:r>
              <a:rPr lang="en-US" sz="1400" b="1" dirty="0"/>
              <a:t>5)</a:t>
            </a:r>
            <a:r>
              <a:rPr lang="en-US" sz="1400" dirty="0"/>
              <a:t> </a:t>
            </a:r>
            <a:r>
              <a:rPr lang="en-US" sz="1400" b="1" dirty="0"/>
              <a:t>The SARIMA (2,1,0)(1,1,1) model is the better choice. It offers superior  fit, can handle complex seasonality, and is likely to provide better forecast accuracy than the Holt-Winters model.</a:t>
            </a:r>
          </a:p>
          <a:p>
            <a:endParaRPr lang="en-IN" b="1" dirty="0"/>
          </a:p>
        </p:txBody>
      </p:sp>
    </p:spTree>
    <p:extLst>
      <p:ext uri="{BB962C8B-B14F-4D97-AF65-F5344CB8AC3E}">
        <p14:creationId xmlns:p14="http://schemas.microsoft.com/office/powerpoint/2010/main" val="2364309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FDB6-E745-7DCA-DC75-73CCDF1AEDDD}"/>
              </a:ext>
            </a:extLst>
          </p:cNvPr>
          <p:cNvSpPr>
            <a:spLocks noGrp="1"/>
          </p:cNvSpPr>
          <p:nvPr>
            <p:ph type="title"/>
          </p:nvPr>
        </p:nvSpPr>
        <p:spPr/>
        <p:txBody>
          <a:bodyPr/>
          <a:lstStyle/>
          <a:p>
            <a:r>
              <a:rPr lang="en-IN" dirty="0"/>
              <a:t>Limitations and Future scope</a:t>
            </a:r>
          </a:p>
        </p:txBody>
      </p:sp>
      <p:sp>
        <p:nvSpPr>
          <p:cNvPr id="3" name="Content Placeholder 2">
            <a:extLst>
              <a:ext uri="{FF2B5EF4-FFF2-40B4-BE49-F238E27FC236}">
                <a16:creationId xmlns:a16="http://schemas.microsoft.com/office/drawing/2014/main" id="{85B292A0-D87F-13AD-1CCD-04504A6AE2A4}"/>
              </a:ext>
            </a:extLst>
          </p:cNvPr>
          <p:cNvSpPr>
            <a:spLocks noGrp="1"/>
          </p:cNvSpPr>
          <p:nvPr>
            <p:ph idx="1"/>
          </p:nvPr>
        </p:nvSpPr>
        <p:spPr/>
        <p:txBody>
          <a:bodyPr/>
          <a:lstStyle/>
          <a:p>
            <a:pPr marL="342900" indent="-342900" algn="l">
              <a:buFont typeface="Arial" panose="020B0604020202020204" pitchFamily="34" charset="0"/>
              <a:buChar char="•"/>
            </a:pPr>
            <a:r>
              <a:rPr lang="en-US" sz="1800" b="1" dirty="0">
                <a:effectLst/>
                <a:ea typeface="Calibri" panose="020F0502020204030204" pitchFamily="34" charset="0"/>
              </a:rPr>
              <a:t>We</a:t>
            </a:r>
            <a:r>
              <a:rPr lang="en-US" sz="1800" b="1" spc="115" dirty="0">
                <a:effectLst/>
                <a:ea typeface="Calibri" panose="020F0502020204030204" pitchFamily="34" charset="0"/>
              </a:rPr>
              <a:t> </a:t>
            </a:r>
            <a:r>
              <a:rPr lang="en-US" sz="1800" b="1" dirty="0">
                <a:effectLst/>
                <a:ea typeface="Calibri" panose="020F0502020204030204" pitchFamily="34" charset="0"/>
              </a:rPr>
              <a:t>have</a:t>
            </a:r>
            <a:r>
              <a:rPr lang="en-US" sz="1800" b="1" spc="115" dirty="0">
                <a:effectLst/>
                <a:ea typeface="Calibri" panose="020F0502020204030204" pitchFamily="34" charset="0"/>
              </a:rPr>
              <a:t> </a:t>
            </a:r>
            <a:r>
              <a:rPr lang="en-US" sz="1800" b="1" dirty="0">
                <a:effectLst/>
                <a:ea typeface="Calibri" panose="020F0502020204030204" pitchFamily="34" charset="0"/>
              </a:rPr>
              <a:t>very</a:t>
            </a:r>
            <a:r>
              <a:rPr lang="en-US" sz="1800" b="1" spc="115" dirty="0">
                <a:effectLst/>
                <a:ea typeface="Calibri" panose="020F0502020204030204" pitchFamily="34" charset="0"/>
              </a:rPr>
              <a:t> </a:t>
            </a:r>
            <a:r>
              <a:rPr lang="en-US" sz="1800" b="1" dirty="0">
                <a:effectLst/>
                <a:ea typeface="Calibri" panose="020F0502020204030204" pitchFamily="34" charset="0"/>
              </a:rPr>
              <a:t>few</a:t>
            </a:r>
            <a:r>
              <a:rPr lang="en-US" sz="1800" b="1" spc="115" dirty="0">
                <a:effectLst/>
                <a:ea typeface="Calibri" panose="020F0502020204030204" pitchFamily="34" charset="0"/>
              </a:rPr>
              <a:t> </a:t>
            </a:r>
            <a:r>
              <a:rPr lang="en-US" sz="1800" b="1" dirty="0">
                <a:effectLst/>
                <a:ea typeface="Calibri" panose="020F0502020204030204" pitchFamily="34" charset="0"/>
              </a:rPr>
              <a:t>variables</a:t>
            </a:r>
            <a:r>
              <a:rPr lang="en-US" sz="1800" b="1" spc="115" dirty="0">
                <a:effectLst/>
                <a:ea typeface="Calibri" panose="020F0502020204030204" pitchFamily="34" charset="0"/>
              </a:rPr>
              <a:t> </a:t>
            </a:r>
            <a:r>
              <a:rPr lang="en-US" sz="1800" b="1" dirty="0">
                <a:effectLst/>
                <a:ea typeface="Calibri" panose="020F0502020204030204" pitchFamily="34" charset="0"/>
              </a:rPr>
              <a:t>for</a:t>
            </a:r>
            <a:r>
              <a:rPr lang="en-US" sz="1800" b="1" spc="115" dirty="0">
                <a:effectLst/>
                <a:ea typeface="Calibri" panose="020F0502020204030204" pitchFamily="34" charset="0"/>
              </a:rPr>
              <a:t> </a:t>
            </a:r>
            <a:r>
              <a:rPr lang="en-US" sz="1800" b="1" dirty="0">
                <a:effectLst/>
                <a:ea typeface="Calibri" panose="020F0502020204030204" pitchFamily="34" charset="0"/>
              </a:rPr>
              <a:t>analysis,</a:t>
            </a:r>
            <a:r>
              <a:rPr lang="en-US" sz="1800" b="1" spc="120" dirty="0">
                <a:effectLst/>
                <a:ea typeface="Calibri" panose="020F0502020204030204" pitchFamily="34" charset="0"/>
              </a:rPr>
              <a:t> </a:t>
            </a:r>
            <a:r>
              <a:rPr lang="en-US" sz="1800" b="1" dirty="0">
                <a:effectLst/>
                <a:ea typeface="Calibri" panose="020F0502020204030204" pitchFamily="34" charset="0"/>
              </a:rPr>
              <a:t>so</a:t>
            </a:r>
            <a:r>
              <a:rPr lang="en-US" sz="1800" b="1" spc="115" dirty="0">
                <a:effectLst/>
                <a:ea typeface="Calibri" panose="020F0502020204030204" pitchFamily="34" charset="0"/>
              </a:rPr>
              <a:t> </a:t>
            </a:r>
            <a:r>
              <a:rPr lang="en-US" sz="1800" b="1" dirty="0">
                <a:effectLst/>
                <a:ea typeface="Calibri" panose="020F0502020204030204" pitchFamily="34" charset="0"/>
              </a:rPr>
              <a:t>only</a:t>
            </a:r>
            <a:r>
              <a:rPr lang="en-US" sz="1800" b="1" spc="115" dirty="0">
                <a:effectLst/>
                <a:ea typeface="Calibri" panose="020F0502020204030204" pitchFamily="34" charset="0"/>
              </a:rPr>
              <a:t> </a:t>
            </a:r>
            <a:r>
              <a:rPr lang="en-US" sz="1800" b="1" dirty="0">
                <a:effectLst/>
                <a:ea typeface="Calibri" panose="020F0502020204030204" pitchFamily="34" charset="0"/>
              </a:rPr>
              <a:t>time</a:t>
            </a:r>
            <a:r>
              <a:rPr lang="en-US" sz="1800" b="1" spc="120" dirty="0">
                <a:effectLst/>
                <a:ea typeface="Calibri" panose="020F0502020204030204" pitchFamily="34" charset="0"/>
              </a:rPr>
              <a:t> </a:t>
            </a:r>
            <a:r>
              <a:rPr lang="en-US" sz="1800" b="1" dirty="0">
                <a:effectLst/>
                <a:ea typeface="Calibri" panose="020F0502020204030204" pitchFamily="34" charset="0"/>
              </a:rPr>
              <a:t>series</a:t>
            </a:r>
            <a:r>
              <a:rPr lang="en-US" sz="1800" b="1" spc="115" dirty="0">
                <a:effectLst/>
                <a:ea typeface="Calibri" panose="020F0502020204030204" pitchFamily="34" charset="0"/>
              </a:rPr>
              <a:t> </a:t>
            </a:r>
            <a:r>
              <a:rPr lang="en-US" sz="1800" b="1" dirty="0">
                <a:effectLst/>
                <a:ea typeface="Calibri" panose="020F0502020204030204" pitchFamily="34" charset="0"/>
              </a:rPr>
              <a:t>analysis</a:t>
            </a:r>
            <a:r>
              <a:rPr lang="en-US" sz="1800" b="1" spc="-255" dirty="0">
                <a:effectLst/>
                <a:ea typeface="Calibri" panose="020F0502020204030204" pitchFamily="34" charset="0"/>
              </a:rPr>
              <a:t> </a:t>
            </a:r>
            <a:r>
              <a:rPr lang="en-US" sz="1800" b="1" dirty="0">
                <a:effectLst/>
                <a:ea typeface="Calibri" panose="020F0502020204030204" pitchFamily="34" charset="0"/>
              </a:rPr>
              <a:t>is</a:t>
            </a:r>
            <a:r>
              <a:rPr lang="en-US" sz="1800" b="1" spc="115" dirty="0">
                <a:effectLst/>
                <a:ea typeface="Calibri" panose="020F0502020204030204" pitchFamily="34" charset="0"/>
              </a:rPr>
              <a:t> </a:t>
            </a:r>
            <a:r>
              <a:rPr lang="en-US" sz="1800" b="1" dirty="0">
                <a:effectLst/>
                <a:ea typeface="Calibri" panose="020F0502020204030204" pitchFamily="34" charset="0"/>
              </a:rPr>
              <a:t>conducted.</a:t>
            </a:r>
            <a:endParaRPr lang="en-IN" sz="1800" b="1" dirty="0">
              <a:effectLst/>
              <a:ea typeface="Calibri" panose="020F0502020204030204" pitchFamily="34" charset="0"/>
            </a:endParaRPr>
          </a:p>
          <a:p>
            <a:pPr marL="342900" indent="-342900" algn="l">
              <a:buFont typeface="Arial" panose="020B0604020202020204" pitchFamily="34" charset="0"/>
              <a:buChar char="•"/>
            </a:pPr>
            <a:r>
              <a:rPr lang="en-US" sz="1800" b="1" dirty="0">
                <a:effectLst/>
                <a:ea typeface="Calibri" panose="020F0502020204030204" pitchFamily="34" charset="0"/>
              </a:rPr>
              <a:t>Only</a:t>
            </a:r>
            <a:r>
              <a:rPr lang="en-US" sz="1800" b="1" spc="165" dirty="0">
                <a:effectLst/>
                <a:ea typeface="Calibri" panose="020F0502020204030204" pitchFamily="34" charset="0"/>
              </a:rPr>
              <a:t> </a:t>
            </a:r>
            <a:r>
              <a:rPr lang="en-US" sz="1800" b="1" dirty="0">
                <a:effectLst/>
                <a:ea typeface="Calibri" panose="020F0502020204030204" pitchFamily="34" charset="0"/>
              </a:rPr>
              <a:t>secondary</a:t>
            </a:r>
            <a:r>
              <a:rPr lang="en-US" sz="1800" b="1" spc="160" dirty="0">
                <a:effectLst/>
                <a:ea typeface="Calibri" panose="020F0502020204030204" pitchFamily="34" charset="0"/>
              </a:rPr>
              <a:t> </a:t>
            </a:r>
            <a:r>
              <a:rPr lang="en-US" sz="1800" b="1" dirty="0">
                <a:effectLst/>
                <a:ea typeface="Calibri" panose="020F0502020204030204" pitchFamily="34" charset="0"/>
              </a:rPr>
              <a:t>data</a:t>
            </a:r>
            <a:r>
              <a:rPr lang="en-US" sz="1800" b="1" spc="165" dirty="0">
                <a:effectLst/>
                <a:ea typeface="Calibri" panose="020F0502020204030204" pitchFamily="34" charset="0"/>
              </a:rPr>
              <a:t> </a:t>
            </a:r>
            <a:r>
              <a:rPr lang="en-US" sz="1800" b="1" dirty="0">
                <a:effectLst/>
                <a:ea typeface="Calibri" panose="020F0502020204030204" pitchFamily="34" charset="0"/>
              </a:rPr>
              <a:t>analysis</a:t>
            </a:r>
            <a:r>
              <a:rPr lang="en-US" sz="1800" b="1" spc="165" dirty="0">
                <a:effectLst/>
                <a:ea typeface="Calibri" panose="020F0502020204030204" pitchFamily="34" charset="0"/>
              </a:rPr>
              <a:t> </a:t>
            </a:r>
            <a:r>
              <a:rPr lang="en-US" sz="1800" b="1" dirty="0">
                <a:effectLst/>
                <a:ea typeface="Calibri" panose="020F0502020204030204" pitchFamily="34" charset="0"/>
              </a:rPr>
              <a:t>is</a:t>
            </a:r>
            <a:r>
              <a:rPr lang="en-US" sz="1800" b="1" spc="165" dirty="0">
                <a:effectLst/>
                <a:ea typeface="Calibri" panose="020F0502020204030204" pitchFamily="34" charset="0"/>
              </a:rPr>
              <a:t> </a:t>
            </a:r>
            <a:r>
              <a:rPr lang="en-US" sz="1800" b="1" dirty="0">
                <a:effectLst/>
                <a:ea typeface="Calibri" panose="020F0502020204030204" pitchFamily="34" charset="0"/>
              </a:rPr>
              <a:t>performed;</a:t>
            </a:r>
            <a:r>
              <a:rPr lang="en-US" sz="1800" b="1" spc="160" dirty="0">
                <a:effectLst/>
                <a:ea typeface="Calibri" panose="020F0502020204030204" pitchFamily="34" charset="0"/>
              </a:rPr>
              <a:t> </a:t>
            </a:r>
            <a:r>
              <a:rPr lang="en-US" sz="1800" b="1" dirty="0">
                <a:effectLst/>
                <a:ea typeface="Calibri" panose="020F0502020204030204" pitchFamily="34" charset="0"/>
              </a:rPr>
              <a:t>primary</a:t>
            </a:r>
            <a:r>
              <a:rPr lang="en-US" sz="1800" b="1" spc="165" dirty="0">
                <a:effectLst/>
                <a:ea typeface="Calibri" panose="020F0502020204030204" pitchFamily="34" charset="0"/>
              </a:rPr>
              <a:t> </a:t>
            </a:r>
            <a:r>
              <a:rPr lang="en-US" sz="1800" b="1" dirty="0">
                <a:effectLst/>
                <a:ea typeface="Calibri" panose="020F0502020204030204" pitchFamily="34" charset="0"/>
              </a:rPr>
              <a:t>data</a:t>
            </a:r>
            <a:r>
              <a:rPr lang="en-US" sz="1800" b="1" spc="160" dirty="0">
                <a:effectLst/>
                <a:ea typeface="Calibri" panose="020F0502020204030204" pitchFamily="34" charset="0"/>
              </a:rPr>
              <a:t> </a:t>
            </a:r>
            <a:r>
              <a:rPr lang="en-US" sz="1800" b="1" dirty="0">
                <a:effectLst/>
                <a:ea typeface="Calibri" panose="020F0502020204030204" pitchFamily="34" charset="0"/>
              </a:rPr>
              <a:t>was</a:t>
            </a:r>
            <a:r>
              <a:rPr lang="en-US" sz="1800" b="1" spc="165" dirty="0">
                <a:effectLst/>
                <a:ea typeface="Calibri" panose="020F0502020204030204" pitchFamily="34" charset="0"/>
              </a:rPr>
              <a:t> </a:t>
            </a:r>
            <a:r>
              <a:rPr lang="en-US" sz="1800" b="1" dirty="0">
                <a:effectLst/>
                <a:ea typeface="Calibri" panose="020F0502020204030204" pitchFamily="34" charset="0"/>
              </a:rPr>
              <a:t>not</a:t>
            </a:r>
            <a:r>
              <a:rPr lang="en-US" sz="1800" b="1" spc="-255" dirty="0">
                <a:effectLst/>
                <a:ea typeface="Calibri" panose="020F0502020204030204" pitchFamily="34" charset="0"/>
              </a:rPr>
              <a:t> </a:t>
            </a:r>
            <a:r>
              <a:rPr lang="en-US" sz="1800" b="1" dirty="0">
                <a:effectLst/>
                <a:ea typeface="Calibri" panose="020F0502020204030204" pitchFamily="34" charset="0"/>
              </a:rPr>
              <a:t>collected</a:t>
            </a:r>
            <a:r>
              <a:rPr lang="en-US" sz="1800" b="1" spc="115" dirty="0">
                <a:effectLst/>
                <a:ea typeface="Calibri" panose="020F0502020204030204" pitchFamily="34" charset="0"/>
              </a:rPr>
              <a:t> </a:t>
            </a:r>
            <a:r>
              <a:rPr lang="en-US" sz="1800" b="1" dirty="0">
                <a:effectLst/>
                <a:ea typeface="Calibri" panose="020F0502020204030204" pitchFamily="34" charset="0"/>
              </a:rPr>
              <a:t>for</a:t>
            </a:r>
            <a:r>
              <a:rPr lang="en-US" sz="1800" b="1" spc="120" dirty="0">
                <a:effectLst/>
                <a:ea typeface="Calibri" panose="020F0502020204030204" pitchFamily="34" charset="0"/>
              </a:rPr>
              <a:t> </a:t>
            </a:r>
            <a:r>
              <a:rPr lang="en-US" sz="1800" b="1" dirty="0">
                <a:effectLst/>
                <a:ea typeface="Calibri" panose="020F0502020204030204" pitchFamily="34" charset="0"/>
              </a:rPr>
              <a:t>analysis</a:t>
            </a:r>
          </a:p>
          <a:p>
            <a:pPr marL="342900" indent="-342900" algn="l">
              <a:buFont typeface="Arial" panose="020B0604020202020204" pitchFamily="34" charset="0"/>
              <a:buChar char="•"/>
            </a:pPr>
            <a:endParaRPr lang="en-US" b="1" dirty="0">
              <a:ea typeface="Calibri" panose="020F0502020204030204" pitchFamily="34" charset="0"/>
            </a:endParaRPr>
          </a:p>
          <a:p>
            <a:pPr marL="342900" indent="-342900" algn="l">
              <a:buFont typeface="Arial" panose="020B0604020202020204" pitchFamily="34" charset="0"/>
              <a:buChar char="•"/>
            </a:pPr>
            <a:endParaRPr lang="en-US" b="1" dirty="0">
              <a:ea typeface="Calibri" panose="020F0502020204030204" pitchFamily="34" charset="0"/>
            </a:endParaRPr>
          </a:p>
          <a:p>
            <a:pPr marL="342900" indent="-342900" algn="l">
              <a:buFont typeface="Arial" panose="020B0604020202020204" pitchFamily="34" charset="0"/>
              <a:buChar char="•"/>
            </a:pPr>
            <a:r>
              <a:rPr lang="en-US" b="1" dirty="0"/>
              <a:t>Future research should delve into the impact of weather patterns (rainfall, temperature) and input costs (fertilizers, pesticides, labor) on onion production and prices. Additionally, analyzing the impact of government policies, such as import/export restrictions and market interventions, on price stability and market dynamics is crucial.</a:t>
            </a:r>
            <a:endParaRPr lang="en-IN" b="1" dirty="0"/>
          </a:p>
        </p:txBody>
      </p:sp>
      <p:sp>
        <p:nvSpPr>
          <p:cNvPr id="4" name="Slide Number Placeholder 3">
            <a:extLst>
              <a:ext uri="{FF2B5EF4-FFF2-40B4-BE49-F238E27FC236}">
                <a16:creationId xmlns:a16="http://schemas.microsoft.com/office/drawing/2014/main" id="{6A3ECEA5-0A28-6FF8-8DC4-2796086158A1}"/>
              </a:ext>
            </a:extLst>
          </p:cNvPr>
          <p:cNvSpPr>
            <a:spLocks noGrp="1"/>
          </p:cNvSpPr>
          <p:nvPr>
            <p:ph type="sldNum" sz="quarter" idx="12"/>
          </p:nvPr>
        </p:nvSpPr>
        <p:spPr/>
        <p:txBody>
          <a:bodyPr/>
          <a:lstStyle/>
          <a:p>
            <a:fld id="{0D3E3056-22A3-4E2C-9164-3EEDF19BB457}" type="slidenum">
              <a:rPr lang="en-IN" smtClean="0"/>
              <a:t>43</a:t>
            </a:fld>
            <a:endParaRPr lang="en-IN" dirty="0"/>
          </a:p>
        </p:txBody>
      </p:sp>
    </p:spTree>
    <p:extLst>
      <p:ext uri="{BB962C8B-B14F-4D97-AF65-F5344CB8AC3E}">
        <p14:creationId xmlns:p14="http://schemas.microsoft.com/office/powerpoint/2010/main" val="3694179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220D-94D2-1D9E-5DCF-56A7C450EDDC}"/>
              </a:ext>
            </a:extLst>
          </p:cNvPr>
          <p:cNvSpPr>
            <a:spLocks noGrp="1"/>
          </p:cNvSpPr>
          <p:nvPr>
            <p:ph type="title"/>
          </p:nvPr>
        </p:nvSpPr>
        <p:spPr>
          <a:xfrm>
            <a:off x="1784031" y="2382571"/>
            <a:ext cx="8911687" cy="1280890"/>
          </a:xfrm>
        </p:spPr>
        <p:txBody>
          <a:bodyPr>
            <a:normAutofit/>
          </a:bodyPr>
          <a:lstStyle/>
          <a:p>
            <a:pPr algn="ctr"/>
            <a:r>
              <a:rPr lang="en-IN" sz="5400" dirty="0"/>
              <a:t>THANK YOU!!!</a:t>
            </a:r>
          </a:p>
        </p:txBody>
      </p:sp>
      <p:sp>
        <p:nvSpPr>
          <p:cNvPr id="3" name="Slide Number Placeholder 2">
            <a:extLst>
              <a:ext uri="{FF2B5EF4-FFF2-40B4-BE49-F238E27FC236}">
                <a16:creationId xmlns:a16="http://schemas.microsoft.com/office/drawing/2014/main" id="{C16E3E37-EA39-F2C2-9EDF-748FB9BD0FFC}"/>
              </a:ext>
            </a:extLst>
          </p:cNvPr>
          <p:cNvSpPr>
            <a:spLocks noGrp="1"/>
          </p:cNvSpPr>
          <p:nvPr>
            <p:ph type="sldNum" sz="quarter" idx="12"/>
          </p:nvPr>
        </p:nvSpPr>
        <p:spPr/>
        <p:txBody>
          <a:bodyPr/>
          <a:lstStyle/>
          <a:p>
            <a:fld id="{0D3E3056-22A3-4E2C-9164-3EEDF19BB457}" type="slidenum">
              <a:rPr lang="en-IN" smtClean="0"/>
              <a:t>44</a:t>
            </a:fld>
            <a:endParaRPr lang="en-IN" dirty="0"/>
          </a:p>
        </p:txBody>
      </p:sp>
    </p:spTree>
    <p:extLst>
      <p:ext uri="{BB962C8B-B14F-4D97-AF65-F5344CB8AC3E}">
        <p14:creationId xmlns:p14="http://schemas.microsoft.com/office/powerpoint/2010/main" val="5052837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1563</TotalTime>
  <Words>4135</Words>
  <Application>Microsoft Office PowerPoint</Application>
  <PresentationFormat>Widescreen</PresentationFormat>
  <Paragraphs>253</Paragraphs>
  <Slides>44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Century Gothic</vt:lpstr>
      <vt:lpstr>Times New Roman</vt:lpstr>
      <vt:lpstr>Wingdings 3</vt:lpstr>
      <vt:lpstr>Wisp</vt:lpstr>
      <vt:lpstr>Onion Price Analysis And Forecasting </vt:lpstr>
      <vt:lpstr>Outline </vt:lpstr>
      <vt:lpstr>Introduction</vt:lpstr>
      <vt:lpstr>Introduction (Objectives)</vt:lpstr>
      <vt:lpstr>Data Description</vt:lpstr>
      <vt:lpstr>Literature Review </vt:lpstr>
      <vt:lpstr>PowerPoint Presentation</vt:lpstr>
      <vt:lpstr>PowerPoint Presentation</vt:lpstr>
      <vt:lpstr>PowerPoint Presentation</vt:lpstr>
      <vt:lpstr>PowerPoint Presentation</vt:lpstr>
      <vt:lpstr>PowerPoint Presentation</vt:lpstr>
      <vt:lpstr>Boxplot of Variation of Modal Price by District</vt:lpstr>
      <vt:lpstr>Boxplot of Modal Price by Variety</vt:lpstr>
      <vt:lpstr>PowerPoint Presentation</vt:lpstr>
      <vt:lpstr>PowerPoint Presentation</vt:lpstr>
      <vt:lpstr>Bar plot of top 10 Markets By Maximum Prices  </vt:lpstr>
      <vt:lpstr>Top 10 markets by Lowest Minimum Prices </vt:lpstr>
      <vt:lpstr>Top 10 Districts by Max Arrivals</vt:lpstr>
      <vt:lpstr>Correlation Plot</vt:lpstr>
      <vt:lpstr>  Boxplot For Minimum Prices (Pune) </vt:lpstr>
      <vt:lpstr>Boxplot For Maximum Prices (Pune)</vt:lpstr>
      <vt:lpstr>Boxplot For Modal Prices (Pune)</vt:lpstr>
      <vt:lpstr>PowerPoint Presentation</vt:lpstr>
      <vt:lpstr>Bar Plot  Calculate counts and percentages </vt:lpstr>
      <vt:lpstr>Comparison of Prices &amp; Arrivals of Pre and Post Covid Period and During covid Period  </vt:lpstr>
      <vt:lpstr>Boxplots of Onion Prices &amp; Arrivals  Before, During, and After Covid-19</vt:lpstr>
      <vt:lpstr>PowerPoint Presentation</vt:lpstr>
      <vt:lpstr>  Prices &amp; Arrivals Comparison for Pune District </vt:lpstr>
      <vt:lpstr>PowerPoint Presentation</vt:lpstr>
      <vt:lpstr>Time series analysis : </vt:lpstr>
      <vt:lpstr>SARIMA</vt:lpstr>
      <vt:lpstr>Decomposition of Time series</vt:lpstr>
      <vt:lpstr>PowerPoint Presentation</vt:lpstr>
      <vt:lpstr>ACF and PACF</vt:lpstr>
      <vt:lpstr>Fitting a Model and selecting the best </vt:lpstr>
      <vt:lpstr>Residual Diagnosis for model </vt:lpstr>
      <vt:lpstr>Sarima forecast</vt:lpstr>
      <vt:lpstr>Time series Actual and  fitted values plot</vt:lpstr>
      <vt:lpstr>Holt winters multiplicative model</vt:lpstr>
      <vt:lpstr>Actual and Fitted value plot</vt:lpstr>
      <vt:lpstr>Forecast plot for Holt winters</vt:lpstr>
      <vt:lpstr>Conclusions </vt:lpstr>
      <vt:lpstr>Limitations and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Analysis in Tourism : Forecasting Visitor Arrivals and Expenditure</dc:title>
  <dc:creator>Bhumika Gajbhiye</dc:creator>
  <cp:lastModifiedBy>uma bhokare</cp:lastModifiedBy>
  <cp:revision>21</cp:revision>
  <dcterms:created xsi:type="dcterms:W3CDTF">2024-05-22T01:43:05Z</dcterms:created>
  <dcterms:modified xsi:type="dcterms:W3CDTF">2025-01-03T11:22:11Z</dcterms:modified>
</cp:coreProperties>
</file>